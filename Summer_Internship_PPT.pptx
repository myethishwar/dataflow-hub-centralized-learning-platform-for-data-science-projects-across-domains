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7"/>
  </p:notesMasterIdLst>
  <p:handoutMasterIdLst>
    <p:handoutMasterId r:id="rId18"/>
  </p:handoutMasterIdLst>
  <p:sldIdLst>
    <p:sldId id="256" r:id="rId5"/>
    <p:sldId id="297" r:id="rId6"/>
    <p:sldId id="261" r:id="rId7"/>
    <p:sldId id="299" r:id="rId8"/>
    <p:sldId id="263" r:id="rId9"/>
    <p:sldId id="265" r:id="rId10"/>
    <p:sldId id="300" r:id="rId11"/>
    <p:sldId id="280" r:id="rId12"/>
    <p:sldId id="267" r:id="rId13"/>
    <p:sldId id="262" r:id="rId14"/>
    <p:sldId id="301" r:id="rId15"/>
    <p:sldId id="28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2C7"/>
    <a:srgbClr val="2C567A"/>
    <a:srgbClr val="0D1D51"/>
    <a:srgbClr val="6666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34" autoAdjust="0"/>
    <p:restoredTop sz="87887" autoAdjust="0"/>
  </p:normalViewPr>
  <p:slideViewPr>
    <p:cSldViewPr snapToGrid="0" showGuides="1">
      <p:cViewPr varScale="1">
        <p:scale>
          <a:sx n="72" d="100"/>
          <a:sy n="72" d="100"/>
        </p:scale>
        <p:origin x="1018" y="86"/>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00" d="100"/>
          <a:sy n="100" d="100"/>
        </p:scale>
        <p:origin x="1560" y="-146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243D74-B9C1-450A-B0F3-6C6DCB0CF20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2C27C33-9BB1-41D5-A236-12767E7E722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7AB3EA8-A58D-4C92-A3AB-D271CCC294C7}" type="datetimeFigureOut">
              <a:rPr lang="en-US" smtClean="0"/>
              <a:t>12/3/2025</a:t>
            </a:fld>
            <a:endParaRPr lang="en-US" dirty="0"/>
          </a:p>
        </p:txBody>
      </p:sp>
      <p:sp>
        <p:nvSpPr>
          <p:cNvPr id="4" name="Footer Placeholder 3">
            <a:extLst>
              <a:ext uri="{FF2B5EF4-FFF2-40B4-BE49-F238E27FC236}">
                <a16:creationId xmlns:a16="http://schemas.microsoft.com/office/drawing/2014/main" id="{44A7EADB-04A4-4093-B238-438E2C7317A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DDD8696-706D-440E-AE04-4C644F0613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22A5DE8-F2C4-4DB3-88D1-656DCD59E73E}" type="slidenum">
              <a:rPr lang="en-US" smtClean="0"/>
              <a:t>‹#›</a:t>
            </a:fld>
            <a:endParaRPr lang="en-US" dirty="0"/>
          </a:p>
        </p:txBody>
      </p:sp>
    </p:spTree>
    <p:extLst>
      <p:ext uri="{BB962C8B-B14F-4D97-AF65-F5344CB8AC3E}">
        <p14:creationId xmlns:p14="http://schemas.microsoft.com/office/powerpoint/2010/main" val="17898243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EFB4FA-E877-413E-B608-88789D806C57}" type="datetimeFigureOut">
              <a:rPr lang="en-US" noProof="0" smtClean="0"/>
              <a:t>12/3/2025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36304E-FDE3-4B4F-A3B7-EBE87F3FA5E2}" type="slidenum">
              <a:rPr lang="en-US" noProof="0" smtClean="0"/>
              <a:t>‹#›</a:t>
            </a:fld>
            <a:endParaRPr lang="en-US" noProof="0" dirty="0"/>
          </a:p>
        </p:txBody>
      </p:sp>
    </p:spTree>
    <p:extLst>
      <p:ext uri="{BB962C8B-B14F-4D97-AF65-F5344CB8AC3E}">
        <p14:creationId xmlns:p14="http://schemas.microsoft.com/office/powerpoint/2010/main" val="4085138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336304E-FDE3-4B4F-A3B7-EBE87F3FA5E2}" type="slidenum">
              <a:rPr lang="en-US" noProof="0" smtClean="0"/>
              <a:t>3</a:t>
            </a:fld>
            <a:endParaRPr lang="en-US" noProof="0" dirty="0"/>
          </a:p>
        </p:txBody>
      </p:sp>
    </p:spTree>
    <p:extLst>
      <p:ext uri="{BB962C8B-B14F-4D97-AF65-F5344CB8AC3E}">
        <p14:creationId xmlns:p14="http://schemas.microsoft.com/office/powerpoint/2010/main" val="2197805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D0504-3B2F-D010-7C17-D032A9038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77D761-717D-E496-DD16-A3A55A235DA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BB55FAD-EC70-E222-B79C-71DD5A26EE7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AC9D70D-92A2-7054-C560-E7B515054CB3}"/>
              </a:ext>
            </a:extLst>
          </p:cNvPr>
          <p:cNvSpPr>
            <a:spLocks noGrp="1"/>
          </p:cNvSpPr>
          <p:nvPr>
            <p:ph type="sldNum" sz="quarter" idx="5"/>
          </p:nvPr>
        </p:nvSpPr>
        <p:spPr/>
        <p:txBody>
          <a:bodyPr/>
          <a:lstStyle/>
          <a:p>
            <a:fld id="{6336304E-FDE3-4B4F-A3B7-EBE87F3FA5E2}" type="slidenum">
              <a:rPr lang="en-US" noProof="0" smtClean="0"/>
              <a:t>4</a:t>
            </a:fld>
            <a:endParaRPr lang="en-US" noProof="0" dirty="0"/>
          </a:p>
        </p:txBody>
      </p:sp>
    </p:spTree>
    <p:extLst>
      <p:ext uri="{BB962C8B-B14F-4D97-AF65-F5344CB8AC3E}">
        <p14:creationId xmlns:p14="http://schemas.microsoft.com/office/powerpoint/2010/main" val="373321249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D93970-B13A-F96D-A4B1-3A1EE7484106}"/>
              </a:ext>
            </a:extLst>
          </p:cNvPr>
          <p:cNvPicPr>
            <a:picLocks noChangeAspect="1"/>
          </p:cNvPicPr>
          <p:nvPr userDrawn="1"/>
        </p:nvPicPr>
        <p:blipFill>
          <a:blip r:embed="rId2"/>
          <a:srcRect/>
          <a:stretch/>
        </p:blipFill>
        <p:spPr>
          <a:xfrm>
            <a:off x="1" y="0"/>
            <a:ext cx="12202379" cy="6857999"/>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612648" y="502920"/>
            <a:ext cx="10954512" cy="3246120"/>
          </a:xfrm>
        </p:spPr>
        <p:txBody>
          <a:bodyPr anchor="b">
            <a:noAutofit/>
          </a:bodyPr>
          <a:lstStyle>
            <a:lvl1pPr algn="ctr">
              <a:defRPr sz="6600" b="1" i="0" cap="none" baseline="0">
                <a:solidFill>
                  <a:schemeClr val="accent2">
                    <a:lumMod val="25000"/>
                  </a:schemeClr>
                </a:solidFill>
                <a:latin typeface="+mj-lt"/>
              </a:defRPr>
            </a:lvl1pPr>
          </a:lstStyle>
          <a:p>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612648" y="3758183"/>
            <a:ext cx="10954512" cy="1307592"/>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noProof="0" dirty="0"/>
          </a:p>
        </p:txBody>
      </p:sp>
    </p:spTree>
    <p:extLst>
      <p:ext uri="{BB962C8B-B14F-4D97-AF65-F5344CB8AC3E}">
        <p14:creationId xmlns:p14="http://schemas.microsoft.com/office/powerpoint/2010/main" val="3388496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01">
    <p:bg>
      <p:bgPr>
        <a:gradFill>
          <a:gsLst>
            <a:gs pos="33000">
              <a:schemeClr val="bg2"/>
            </a:gs>
            <a:gs pos="59000">
              <a:schemeClr val="tx2">
                <a:lumMod val="90000"/>
                <a:alpha val="65163"/>
              </a:schemeClr>
            </a:gs>
          </a:gsLst>
          <a:lin ang="7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850392"/>
            <a:ext cx="3913632" cy="4800600"/>
          </a:xfrm>
        </p:spPr>
        <p:txBody>
          <a:bodyPr/>
          <a:lstStyle>
            <a:lvl1pPr>
              <a:defRPr>
                <a:solidFill>
                  <a:schemeClr val="accent2">
                    <a:lumMod val="25000"/>
                  </a:schemeClr>
                </a:solidFill>
                <a:latin typeface="+mj-lt"/>
              </a:defRPr>
            </a:lvl1pPr>
          </a:lstStyle>
          <a:p>
            <a:r>
              <a:rPr lang="en-US" dirty="0"/>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5358384" y="1965960"/>
            <a:ext cx="4050792" cy="2953512"/>
          </a:xfrm>
        </p:spPr>
        <p:txBody>
          <a:bodyPr anchor="ctr" anchorCtr="0"/>
          <a:lstStyle>
            <a:lvl1pPr>
              <a:defRPr cap="all" baseline="0">
                <a:solidFill>
                  <a:schemeClr val="accent2">
                    <a:lumMod val="25000"/>
                  </a:schemeClr>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7" name="Rounded Rectangle 4">
            <a:extLst>
              <a:ext uri="{FF2B5EF4-FFF2-40B4-BE49-F238E27FC236}">
                <a16:creationId xmlns:a16="http://schemas.microsoft.com/office/drawing/2014/main" id="{906EB944-76A9-6F98-104E-59CD34F5CF94}"/>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57855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877824" y="1325880"/>
            <a:ext cx="10460736" cy="2286000"/>
          </a:xfrm>
        </p:spPr>
        <p:txBody>
          <a:bodyPr anchor="b">
            <a:noAutofit/>
          </a:bodyPr>
          <a:lstStyle>
            <a:lvl1pPr algn="ctr">
              <a:defRPr sz="6600" b="1" i="0" cap="none" spc="-150" baseline="0">
                <a:solidFill>
                  <a:schemeClr val="accent2">
                    <a:lumMod val="25000"/>
                  </a:schemeClr>
                </a:solidFill>
                <a:latin typeface="+mj-lt"/>
              </a:defRPr>
            </a:lvl1pPr>
          </a:lstStyle>
          <a:p>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877824" y="3749040"/>
            <a:ext cx="10460736" cy="2286000"/>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noProof="0" dirty="0"/>
          </a:p>
        </p:txBody>
      </p:sp>
    </p:spTree>
    <p:extLst>
      <p:ext uri="{BB962C8B-B14F-4D97-AF65-F5344CB8AC3E}">
        <p14:creationId xmlns:p14="http://schemas.microsoft.com/office/powerpoint/2010/main" val="15027234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02">
    <p:bg>
      <p:bgPr>
        <a:gradFill>
          <a:gsLst>
            <a:gs pos="33000">
              <a:schemeClr val="bg2"/>
            </a:gs>
            <a:gs pos="59000">
              <a:schemeClr val="tx2">
                <a:lumMod val="90000"/>
                <a:alpha val="65163"/>
              </a:schemeClr>
            </a:gs>
          </a:gsLst>
          <a:lin ang="19200000" scaled="0"/>
        </a:gradFill>
        <a:effectLst/>
      </p:bgPr>
    </p:bg>
    <p:spTree>
      <p:nvGrpSpPr>
        <p:cNvPr id="1" name=""/>
        <p:cNvGrpSpPr/>
        <p:nvPr/>
      </p:nvGrpSpPr>
      <p:grpSpPr>
        <a:xfrm>
          <a:off x="0" y="0"/>
          <a:ext cx="0" cy="0"/>
          <a:chOff x="0" y="0"/>
          <a:chExt cx="0" cy="0"/>
        </a:xfrm>
      </p:grpSpPr>
      <p:sp>
        <p:nvSpPr>
          <p:cNvPr id="7" name="Rounded Rectangle 3">
            <a:extLst>
              <a:ext uri="{FF2B5EF4-FFF2-40B4-BE49-F238E27FC236}">
                <a16:creationId xmlns:a16="http://schemas.microsoft.com/office/drawing/2014/main" id="{B6718ABD-4EA5-E3C5-0225-F6671DCA53AD}"/>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313432"/>
            <a:ext cx="6327648" cy="3218688"/>
          </a:xfrm>
        </p:spPr>
        <p:txBody>
          <a:bodyPr anchor="ctr" anchorCtr="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889032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4654296" y="27432"/>
            <a:ext cx="7004304" cy="3566160"/>
          </a:xfrm>
        </p:spPr>
        <p:txBody>
          <a:bodyPr anchor="b">
            <a:noAutofit/>
          </a:bodyPr>
          <a:lstStyle>
            <a:lvl1pPr algn="ctr">
              <a:defRPr sz="6000" b="1" i="0" cap="none" spc="-150" baseline="0">
                <a:solidFill>
                  <a:schemeClr val="accent2">
                    <a:lumMod val="25000"/>
                  </a:schemeClr>
                </a:solidFill>
                <a:latin typeface="+mj-lt"/>
              </a:defRPr>
            </a:lvl1pPr>
          </a:lstStyle>
          <a:p>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4654295" y="3767328"/>
            <a:ext cx="7004303" cy="1161288"/>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noProof="0" dirty="0"/>
          </a:p>
        </p:txBody>
      </p:sp>
    </p:spTree>
    <p:extLst>
      <p:ext uri="{BB962C8B-B14F-4D97-AF65-F5344CB8AC3E}">
        <p14:creationId xmlns:p14="http://schemas.microsoft.com/office/powerpoint/2010/main" val="3329623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bg>
      <p:bgPr>
        <a:gradFill>
          <a:gsLst>
            <a:gs pos="33000">
              <a:schemeClr val="bg2"/>
            </a:gs>
            <a:gs pos="59000">
              <a:schemeClr val="tx2">
                <a:lumMod val="90000"/>
                <a:alpha val="65163"/>
              </a:schemeClr>
            </a:gs>
          </a:gsLst>
          <a:lin ang="21594000" scaled="0"/>
        </a:gra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772C86F9-080E-93F7-C7B1-F5BEAD84E36E}"/>
              </a:ext>
            </a:extLst>
          </p:cNvPr>
          <p:cNvSpPr>
            <a:spLocks noGrp="1"/>
          </p:cNvSpPr>
          <p:nvPr>
            <p:ph type="title"/>
          </p:nvPr>
        </p:nvSpPr>
        <p:spPr>
          <a:xfrm>
            <a:off x="1078992" y="365760"/>
            <a:ext cx="10506456" cy="1655064"/>
          </a:xfrm>
        </p:spPr>
        <p:txBody>
          <a:bodyPr anchor="b"/>
          <a:lstStyle>
            <a:lvl1pPr>
              <a:defRPr>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1097280" y="2432304"/>
            <a:ext cx="3108960" cy="341237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4736592" y="1920240"/>
            <a:ext cx="6620256" cy="39136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12" name="Rounded Rectangle 11">
            <a:extLst>
              <a:ext uri="{FF2B5EF4-FFF2-40B4-BE49-F238E27FC236}">
                <a16:creationId xmlns:a16="http://schemas.microsoft.com/office/drawing/2014/main" id="{7FF98F94-8801-13BE-8EB4-01921AC196C8}"/>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96360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03">
    <p:bg>
      <p:bgPr>
        <a:gradFill>
          <a:gsLst>
            <a:gs pos="33000">
              <a:schemeClr val="bg2"/>
            </a:gs>
            <a:gs pos="59000">
              <a:schemeClr val="tx2">
                <a:lumMod val="90000"/>
                <a:alpha val="65163"/>
              </a:schemeClr>
            </a:gs>
          </a:gsLst>
          <a:lin ang="19200000" scaled="0"/>
        </a:gradFill>
        <a:effectLst/>
      </p:bgPr>
    </p:bg>
    <p:spTree>
      <p:nvGrpSpPr>
        <p:cNvPr id="1" name=""/>
        <p:cNvGrpSpPr/>
        <p:nvPr/>
      </p:nvGrpSpPr>
      <p:grpSpPr>
        <a:xfrm>
          <a:off x="0" y="0"/>
          <a:ext cx="0" cy="0"/>
          <a:chOff x="0" y="0"/>
          <a:chExt cx="0" cy="0"/>
        </a:xfrm>
      </p:grpSpPr>
      <p:sp>
        <p:nvSpPr>
          <p:cNvPr id="12" name="Rounded Rectangle 4">
            <a:extLst>
              <a:ext uri="{FF2B5EF4-FFF2-40B4-BE49-F238E27FC236}">
                <a16:creationId xmlns:a16="http://schemas.microsoft.com/office/drawing/2014/main" id="{95671103-2960-81E2-9A76-0E7FDE6B3E55}"/>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dirty="0"/>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276856"/>
            <a:ext cx="6327648" cy="3090672"/>
          </a:xfrm>
        </p:spPr>
        <p:txBody>
          <a:bodyPr anchor="ctr" anchorCtr="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701264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wo content 02">
    <p:bg>
      <p:bgPr>
        <a:gradFill>
          <a:gsLst>
            <a:gs pos="33000">
              <a:schemeClr val="bg2"/>
            </a:gs>
            <a:gs pos="59000">
              <a:schemeClr val="tx2">
                <a:lumMod val="90000"/>
                <a:alpha val="65163"/>
              </a:schemeClr>
            </a:gs>
          </a:gsLst>
          <a:lin ang="16800000" scaled="0"/>
        </a:gradFill>
        <a:effectLst/>
      </p:bgPr>
    </p:bg>
    <p:spTree>
      <p:nvGrpSpPr>
        <p:cNvPr id="1" name=""/>
        <p:cNvGrpSpPr/>
        <p:nvPr/>
      </p:nvGrpSpPr>
      <p:grpSpPr>
        <a:xfrm>
          <a:off x="0" y="0"/>
          <a:ext cx="0" cy="0"/>
          <a:chOff x="0" y="0"/>
          <a:chExt cx="0" cy="0"/>
        </a:xfrm>
      </p:grpSpPr>
      <p:sp>
        <p:nvSpPr>
          <p:cNvPr id="7" name="Rounded Rectangle 4">
            <a:extLst>
              <a:ext uri="{FF2B5EF4-FFF2-40B4-BE49-F238E27FC236}">
                <a16:creationId xmlns:a16="http://schemas.microsoft.com/office/drawing/2014/main" id="{86060D16-E6F6-EA0E-E58E-526234AB6564}"/>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dirty="0"/>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441448"/>
            <a:ext cx="3602736" cy="3575304"/>
          </a:xfrm>
        </p:spPr>
        <p:txBody>
          <a:bodyPr anchor="t" anchorCtr="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D1DCC4A1-0DB3-3480-3A1A-78FC85FE7ECE}"/>
              </a:ext>
            </a:extLst>
          </p:cNvPr>
          <p:cNvSpPr>
            <a:spLocks noGrp="1"/>
          </p:cNvSpPr>
          <p:nvPr>
            <p:ph idx="13"/>
          </p:nvPr>
        </p:nvSpPr>
        <p:spPr>
          <a:xfrm>
            <a:off x="7671816" y="2441448"/>
            <a:ext cx="3602736" cy="3575304"/>
          </a:xfrm>
        </p:spPr>
        <p:txBody>
          <a:bodyPr anchor="t" anchorCtr="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499728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03">
    <p:bg>
      <p:bgPr>
        <a:solidFill>
          <a:schemeClr val="tx2"/>
        </a:solidFill>
        <a:effectLst/>
      </p:bgPr>
    </p:bg>
    <p:spTree>
      <p:nvGrpSpPr>
        <p:cNvPr id="1" name=""/>
        <p:cNvGrpSpPr/>
        <p:nvPr/>
      </p:nvGrpSpPr>
      <p:grpSpPr>
        <a:xfrm>
          <a:off x="0" y="0"/>
          <a:ext cx="0" cy="0"/>
          <a:chOff x="0" y="0"/>
          <a:chExt cx="0" cy="0"/>
        </a:xfrm>
      </p:grpSpPr>
      <p:sp>
        <p:nvSpPr>
          <p:cNvPr id="4" name="Rounded Rectangle 6">
            <a:extLst>
              <a:ext uri="{FF2B5EF4-FFF2-40B4-BE49-F238E27FC236}">
                <a16:creationId xmlns:a16="http://schemas.microsoft.com/office/drawing/2014/main" id="{1B32A35F-9C9A-7C7D-DE93-B55FFF07D66E}"/>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a:extLst>
              <a:ext uri="{FF2B5EF4-FFF2-40B4-BE49-F238E27FC236}">
                <a16:creationId xmlns:a16="http://schemas.microsoft.com/office/drawing/2014/main" id="{198299DF-E702-8750-30F5-798D7C96AA46}"/>
              </a:ext>
            </a:extLst>
          </p:cNvPr>
          <p:cNvSpPr>
            <a:spLocks noGrp="1"/>
          </p:cNvSpPr>
          <p:nvPr>
            <p:ph type="title"/>
          </p:nvPr>
        </p:nvSpPr>
        <p:spPr>
          <a:xfrm>
            <a:off x="1078992" y="365760"/>
            <a:ext cx="10277856" cy="1655064"/>
          </a:xfrm>
        </p:spPr>
        <p:txBody>
          <a:bodyPr anchor="b"/>
          <a:lstStyle>
            <a:lvl1pPr>
              <a:defRPr>
                <a:latin typeface="+mj-lt"/>
              </a:defRPr>
            </a:lvl1pPr>
          </a:lstStyle>
          <a:p>
            <a:r>
              <a:rPr lang="en-US" dirty="0"/>
              <a:t>Click to edit Master title style</a:t>
            </a:r>
          </a:p>
        </p:txBody>
      </p:sp>
      <p:sp>
        <p:nvSpPr>
          <p:cNvPr id="10" name="Content Placeholder 2">
            <a:extLst>
              <a:ext uri="{FF2B5EF4-FFF2-40B4-BE49-F238E27FC236}">
                <a16:creationId xmlns:a16="http://schemas.microsoft.com/office/drawing/2014/main" id="{30CE72F6-1D9D-E61E-F1EE-2861FDF7654A}"/>
              </a:ext>
            </a:extLst>
          </p:cNvPr>
          <p:cNvSpPr>
            <a:spLocks noGrp="1"/>
          </p:cNvSpPr>
          <p:nvPr>
            <p:ph idx="1"/>
          </p:nvPr>
        </p:nvSpPr>
        <p:spPr>
          <a:xfrm>
            <a:off x="1170432" y="2459736"/>
            <a:ext cx="2843784" cy="3090672"/>
          </a:xfrm>
        </p:spPr>
        <p:txBody>
          <a:bodyPr anchor="t" anchorCtr="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a:extLst>
              <a:ext uri="{FF2B5EF4-FFF2-40B4-BE49-F238E27FC236}">
                <a16:creationId xmlns:a16="http://schemas.microsoft.com/office/drawing/2014/main" id="{6EFAE94C-C299-8167-1BD9-4FC98C04C63C}"/>
              </a:ext>
            </a:extLst>
          </p:cNvPr>
          <p:cNvSpPr>
            <a:spLocks noGrp="1"/>
          </p:cNvSpPr>
          <p:nvPr>
            <p:ph idx="13"/>
          </p:nvPr>
        </p:nvSpPr>
        <p:spPr>
          <a:xfrm>
            <a:off x="4233672" y="2523744"/>
            <a:ext cx="6693408" cy="3273552"/>
          </a:xfrm>
        </p:spPr>
        <p:txBody>
          <a:bodyPr anchor="t" anchorCtr="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3854947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04">
    <p:bg>
      <p:bgPr>
        <a:solidFill>
          <a:schemeClr val="tx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98299DF-E702-8750-30F5-798D7C96AA46}"/>
              </a:ext>
            </a:extLst>
          </p:cNvPr>
          <p:cNvSpPr>
            <a:spLocks noGrp="1"/>
          </p:cNvSpPr>
          <p:nvPr>
            <p:ph type="title"/>
          </p:nvPr>
        </p:nvSpPr>
        <p:spPr>
          <a:xfrm>
            <a:off x="1078992" y="365760"/>
            <a:ext cx="10277856" cy="1655064"/>
          </a:xfrm>
        </p:spPr>
        <p:txBody>
          <a:bodyPr anchor="b"/>
          <a:lstStyle>
            <a:lvl1pPr>
              <a:defRPr>
                <a:latin typeface="+mj-lt"/>
              </a:defRPr>
            </a:lvl1pPr>
          </a:lstStyle>
          <a:p>
            <a:r>
              <a:rPr lang="en-US" dirty="0"/>
              <a:t>Click to edit Master title style</a:t>
            </a:r>
          </a:p>
        </p:txBody>
      </p:sp>
      <p:sp>
        <p:nvSpPr>
          <p:cNvPr id="11" name="Content Placeholder 2">
            <a:extLst>
              <a:ext uri="{FF2B5EF4-FFF2-40B4-BE49-F238E27FC236}">
                <a16:creationId xmlns:a16="http://schemas.microsoft.com/office/drawing/2014/main" id="{6EFAE94C-C299-8167-1BD9-4FC98C04C63C}"/>
              </a:ext>
            </a:extLst>
          </p:cNvPr>
          <p:cNvSpPr>
            <a:spLocks noGrp="1"/>
          </p:cNvSpPr>
          <p:nvPr>
            <p:ph idx="13"/>
          </p:nvPr>
        </p:nvSpPr>
        <p:spPr>
          <a:xfrm>
            <a:off x="1207008" y="2523744"/>
            <a:ext cx="9720072" cy="3255264"/>
          </a:xfrm>
        </p:spPr>
        <p:txBody>
          <a:bodyPr anchor="t" anchorCtr="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4" name="Rounded Rectangle 6">
            <a:extLst>
              <a:ext uri="{FF2B5EF4-FFF2-40B4-BE49-F238E27FC236}">
                <a16:creationId xmlns:a16="http://schemas.microsoft.com/office/drawing/2014/main" id="{1B32A35F-9C9A-7C7D-DE93-B55FFF07D66E}"/>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184807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612648" y="1600200"/>
            <a:ext cx="10991088" cy="3657600"/>
          </a:xfrm>
        </p:spPr>
        <p:txBody>
          <a:bodyPr anchor="ctr">
            <a:noAutofit/>
          </a:bodyPr>
          <a:lstStyle>
            <a:lvl1pPr algn="ctr">
              <a:defRPr sz="6600" b="1" i="0" cap="none" spc="-150" baseline="0">
                <a:solidFill>
                  <a:schemeClr val="accent2">
                    <a:lumMod val="25000"/>
                  </a:schemeClr>
                </a:solidFill>
                <a:latin typeface="+mj-lt"/>
              </a:defRPr>
            </a:lvl1pPr>
          </a:lstStyle>
          <a:p>
            <a:endParaRPr lang="en-US" noProof="0" dirty="0"/>
          </a:p>
        </p:txBody>
      </p:sp>
      <p:sp>
        <p:nvSpPr>
          <p:cNvPr id="3" name="Rounded Rectangle 6">
            <a:extLst>
              <a:ext uri="{FF2B5EF4-FFF2-40B4-BE49-F238E27FC236}">
                <a16:creationId xmlns:a16="http://schemas.microsoft.com/office/drawing/2014/main" id="{C2497AB5-3CBB-0D3E-9D9E-453E8E5A252D}"/>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0994920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wo content 04">
    <p:bg>
      <p:bgPr>
        <a:gradFill>
          <a:gsLst>
            <a:gs pos="33000">
              <a:schemeClr val="bg2"/>
            </a:gs>
            <a:gs pos="59000">
              <a:schemeClr val="tx2">
                <a:lumMod val="90000"/>
                <a:alpha val="65163"/>
              </a:schemeClr>
            </a:gs>
          </a:gsLst>
          <a:lin ang="13800000" scaled="0"/>
        </a:gradFill>
        <a:effectLst/>
      </p:bgPr>
    </p:bg>
    <p:spTree>
      <p:nvGrpSpPr>
        <p:cNvPr id="1" name=""/>
        <p:cNvGrpSpPr/>
        <p:nvPr/>
      </p:nvGrpSpPr>
      <p:grpSpPr>
        <a:xfrm>
          <a:off x="0" y="0"/>
          <a:ext cx="0" cy="0"/>
          <a:chOff x="0" y="0"/>
          <a:chExt cx="0" cy="0"/>
        </a:xfrm>
      </p:grpSpPr>
      <p:sp>
        <p:nvSpPr>
          <p:cNvPr id="11" name="Rounded Rectangle 4">
            <a:extLst>
              <a:ext uri="{FF2B5EF4-FFF2-40B4-BE49-F238E27FC236}">
                <a16:creationId xmlns:a16="http://schemas.microsoft.com/office/drawing/2014/main" id="{5697808D-10E0-D8A5-5D07-E176EBB8F2BB}"/>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532858"/>
            <a:ext cx="10277856" cy="1655064"/>
          </a:xfrm>
        </p:spPr>
        <p:txBody>
          <a:bodyPr anchor="b"/>
          <a:lstStyle>
            <a:lvl1pPr>
              <a:defRPr>
                <a:latin typeface="+mj-lt"/>
              </a:defRPr>
            </a:lvl1pPr>
          </a:lstStyle>
          <a:p>
            <a:r>
              <a:rPr lang="en-US" dirty="0"/>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441448"/>
            <a:ext cx="3602736" cy="3575304"/>
          </a:xfrm>
        </p:spPr>
        <p:txBody>
          <a:bodyPr anchor="t" anchorCtr="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D1DCC4A1-0DB3-3480-3A1A-78FC85FE7ECE}"/>
              </a:ext>
            </a:extLst>
          </p:cNvPr>
          <p:cNvSpPr>
            <a:spLocks noGrp="1"/>
          </p:cNvSpPr>
          <p:nvPr>
            <p:ph idx="13"/>
          </p:nvPr>
        </p:nvSpPr>
        <p:spPr>
          <a:xfrm>
            <a:off x="8293608" y="2441447"/>
            <a:ext cx="3063240" cy="3575303"/>
          </a:xfrm>
        </p:spPr>
        <p:txBody>
          <a:bodyPr anchor="t" anchorCtr="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3438508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1133856" y="56450"/>
            <a:ext cx="9912096" cy="2743200"/>
          </a:xfrm>
        </p:spPr>
        <p:txBody>
          <a:bodyPr anchor="b">
            <a:noAutofit/>
          </a:bodyPr>
          <a:lstStyle>
            <a:lvl1pPr algn="l">
              <a:defRPr sz="6600" b="1" i="0" cap="none" spc="-150" baseline="0">
                <a:solidFill>
                  <a:schemeClr val="accent2">
                    <a:lumMod val="25000"/>
                  </a:schemeClr>
                </a:solidFill>
                <a:latin typeface="+mj-lt"/>
              </a:defRPr>
            </a:lvl1pPr>
          </a:lstStyle>
          <a:p>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3575304" y="3110546"/>
            <a:ext cx="4114800" cy="2743200"/>
          </a:xfrm>
        </p:spPr>
        <p:txBody>
          <a:bodyPr>
            <a:noAutofit/>
          </a:bodyPr>
          <a:lstStyle>
            <a:lvl1pPr marL="0" indent="0" algn="l">
              <a:lnSpc>
                <a:spcPct val="150000"/>
              </a:lnSpc>
              <a:spcBef>
                <a:spcPts val="0"/>
              </a:spcBef>
              <a:buNone/>
              <a:defRPr sz="24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noProof="0" dirty="0"/>
          </a:p>
        </p:txBody>
      </p:sp>
      <p:sp>
        <p:nvSpPr>
          <p:cNvPr id="4" name="Rounded Rectangle 6">
            <a:extLst>
              <a:ext uri="{FF2B5EF4-FFF2-40B4-BE49-F238E27FC236}">
                <a16:creationId xmlns:a16="http://schemas.microsoft.com/office/drawing/2014/main" id="{1FFB741D-F06D-EA69-BFF9-65A028154276}"/>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608354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34982-F19A-24F3-C39A-719B266603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6E9DA29-EE54-522B-3D50-E054D58DD5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A35F271-B130-F4E9-BCB0-0578B22E219C}"/>
              </a:ext>
            </a:extLst>
          </p:cNvPr>
          <p:cNvSpPr>
            <a:spLocks noGrp="1"/>
          </p:cNvSpPr>
          <p:nvPr>
            <p:ph type="dt" sz="half" idx="10"/>
          </p:nvPr>
        </p:nvSpPr>
        <p:spPr/>
        <p:txBody>
          <a:bodyPr/>
          <a:lstStyle/>
          <a:p>
            <a:fld id="{E5B73992-D0ED-4535-9CD0-25D9D6E600C9}" type="datetimeFigureOut">
              <a:rPr lang="en-IN" smtClean="0"/>
              <a:t>03-12-2025</a:t>
            </a:fld>
            <a:endParaRPr lang="en-IN"/>
          </a:p>
        </p:txBody>
      </p:sp>
      <p:sp>
        <p:nvSpPr>
          <p:cNvPr id="5" name="Footer Placeholder 4">
            <a:extLst>
              <a:ext uri="{FF2B5EF4-FFF2-40B4-BE49-F238E27FC236}">
                <a16:creationId xmlns:a16="http://schemas.microsoft.com/office/drawing/2014/main" id="{11F97A5B-94C3-8759-AF3B-AF375C61B2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250B4B-3656-FA8D-69D2-A2BDBBEB7B60}"/>
              </a:ext>
            </a:extLst>
          </p:cNvPr>
          <p:cNvSpPr>
            <a:spLocks noGrp="1"/>
          </p:cNvSpPr>
          <p:nvPr>
            <p:ph type="sldNum" sz="quarter" idx="12"/>
          </p:nvPr>
        </p:nvSpPr>
        <p:spPr/>
        <p:txBody>
          <a:bodyPr/>
          <a:lstStyle/>
          <a:p>
            <a:fld id="{B05F1C8A-6C99-4E24-B930-50329E0A98B8}" type="slidenum">
              <a:rPr lang="en-IN" smtClean="0"/>
              <a:t>‹#›</a:t>
            </a:fld>
            <a:endParaRPr lang="en-IN"/>
          </a:p>
        </p:txBody>
      </p:sp>
      <p:sp>
        <p:nvSpPr>
          <p:cNvPr id="7" name="Rounded Rectangle 6">
            <a:extLst>
              <a:ext uri="{FF2B5EF4-FFF2-40B4-BE49-F238E27FC236}">
                <a16:creationId xmlns:a16="http://schemas.microsoft.com/office/drawing/2014/main" id="{934F6146-182C-6584-CB1E-140C6F99012D}"/>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78593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C4D7FA-B85E-4477-8C62-94955B340F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dirty="0"/>
              <a:t>Click to edit Master title style</a:t>
            </a:r>
          </a:p>
        </p:txBody>
      </p:sp>
      <p:sp>
        <p:nvSpPr>
          <p:cNvPr id="3" name="Text Placeholder 2">
            <a:extLst>
              <a:ext uri="{FF2B5EF4-FFF2-40B4-BE49-F238E27FC236}">
                <a16:creationId xmlns:a16="http://schemas.microsoft.com/office/drawing/2014/main" id="{1F1226BB-3E56-4E7F-8172-7EC03C9F0B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Date Placeholder 3">
            <a:extLst>
              <a:ext uri="{FF2B5EF4-FFF2-40B4-BE49-F238E27FC236}">
                <a16:creationId xmlns:a16="http://schemas.microsoft.com/office/drawing/2014/main" id="{D95D08EF-72FB-4F19-9916-65815A9CA99C}"/>
              </a:ext>
            </a:extLst>
          </p:cNvPr>
          <p:cNvSpPr>
            <a:spLocks noGrp="1"/>
          </p:cNvSpPr>
          <p:nvPr>
            <p:ph type="dt" sz="half" idx="2"/>
          </p:nvPr>
        </p:nvSpPr>
        <p:spPr>
          <a:xfrm>
            <a:off x="838200" y="6563001"/>
            <a:ext cx="2743200" cy="228600"/>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noProof="0" dirty="0"/>
              <a:t>8/6/20XX</a:t>
            </a:r>
          </a:p>
        </p:txBody>
      </p:sp>
      <p:sp>
        <p:nvSpPr>
          <p:cNvPr id="5" name="Footer Placeholder 4">
            <a:extLst>
              <a:ext uri="{FF2B5EF4-FFF2-40B4-BE49-F238E27FC236}">
                <a16:creationId xmlns:a16="http://schemas.microsoft.com/office/drawing/2014/main" id="{1365084D-BC85-4A55-BD80-93876AD10108}"/>
              </a:ext>
            </a:extLst>
          </p:cNvPr>
          <p:cNvSpPr>
            <a:spLocks noGrp="1"/>
          </p:cNvSpPr>
          <p:nvPr>
            <p:ph type="ftr" sz="quarter" idx="3"/>
          </p:nvPr>
        </p:nvSpPr>
        <p:spPr>
          <a:xfrm>
            <a:off x="4038600" y="6563001"/>
            <a:ext cx="4114800" cy="22860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noProof="0" dirty="0"/>
          </a:p>
        </p:txBody>
      </p:sp>
      <p:sp>
        <p:nvSpPr>
          <p:cNvPr id="6" name="Slide Number Placeholder 5">
            <a:extLst>
              <a:ext uri="{FF2B5EF4-FFF2-40B4-BE49-F238E27FC236}">
                <a16:creationId xmlns:a16="http://schemas.microsoft.com/office/drawing/2014/main" id="{45FDEF23-A140-4DD6-A0D0-A86BD4DF3404}"/>
              </a:ext>
            </a:extLst>
          </p:cNvPr>
          <p:cNvSpPr>
            <a:spLocks noGrp="1"/>
          </p:cNvSpPr>
          <p:nvPr>
            <p:ph type="sldNum" sz="quarter" idx="4"/>
          </p:nvPr>
        </p:nvSpPr>
        <p:spPr>
          <a:xfrm>
            <a:off x="9375912" y="6563001"/>
            <a:ext cx="2743200" cy="228600"/>
          </a:xfrm>
          <a:prstGeom prst="rect">
            <a:avLst/>
          </a:prstGeom>
        </p:spPr>
        <p:txBody>
          <a:bodyPr vert="horz" lIns="91440" tIns="45720" rIns="91440" bIns="45720" rtlCol="0" anchor="ctr"/>
          <a:lstStyle>
            <a:lvl1pPr algn="r">
              <a:defRPr sz="1200">
                <a:solidFill>
                  <a:schemeClr val="tx1">
                    <a:tint val="75000"/>
                  </a:schemeClr>
                </a:solidFill>
              </a:defRPr>
            </a:lvl1pPr>
          </a:lstStyle>
          <a:p>
            <a:fld id="{9EC71654-96A5-4280-94F3-931C61A9F92C}" type="slidenum">
              <a:rPr lang="en-US" noProof="0" smtClean="0"/>
              <a:t>‹#›</a:t>
            </a:fld>
            <a:endParaRPr lang="en-US" noProof="0" dirty="0"/>
          </a:p>
        </p:txBody>
      </p:sp>
      <p:sp>
        <p:nvSpPr>
          <p:cNvPr id="7" name="Rounded Rectangle 6">
            <a:extLst>
              <a:ext uri="{FF2B5EF4-FFF2-40B4-BE49-F238E27FC236}">
                <a16:creationId xmlns:a16="http://schemas.microsoft.com/office/drawing/2014/main" id="{4D6A346D-3303-33C9-EAC9-E3BCE661A17A}"/>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47082301"/>
      </p:ext>
    </p:extLst>
  </p:cSld>
  <p:clrMap bg1="lt1" tx1="dk1" bg2="lt2" tx2="dk2" accent1="accent1" accent2="accent2" accent3="accent3" accent4="accent4" accent5="accent5" accent6="accent6" hlink="hlink" folHlink="folHlink"/>
  <p:sldLayoutIdLst>
    <p:sldLayoutId id="2147483649"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Lst>
  <p:hf hdr="0" ftr="0" dt="0"/>
  <p:txStyles>
    <p:titleStyle>
      <a:lvl1pPr algn="l" defTabSz="914400" rtl="0" eaLnBrk="1" latinLnBrk="0" hangingPunct="1">
        <a:lnSpc>
          <a:spcPct val="90000"/>
        </a:lnSpc>
        <a:spcBef>
          <a:spcPct val="0"/>
        </a:spcBef>
        <a:buNone/>
        <a:defRPr sz="4400" b="1" i="0" kern="1200">
          <a:solidFill>
            <a:schemeClr val="accent2">
              <a:lumMod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25" userDrawn="1">
          <p15:clr>
            <a:srgbClr val="F26B43"/>
          </p15:clr>
        </p15:guide>
        <p15:guide id="4" pos="734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968C8E2-64F4-51BE-5F95-2E26D964FF43}"/>
              </a:ext>
            </a:extLst>
          </p:cNvPr>
          <p:cNvPicPr>
            <a:picLocks noChangeAspect="1"/>
          </p:cNvPicPr>
          <p:nvPr/>
        </p:nvPicPr>
        <p:blipFill>
          <a:blip r:embed="rId2"/>
          <a:stretch>
            <a:fillRect/>
          </a:stretch>
        </p:blipFill>
        <p:spPr>
          <a:xfrm>
            <a:off x="0" y="0"/>
            <a:ext cx="12192000" cy="1334028"/>
          </a:xfrm>
          <a:prstGeom prst="rect">
            <a:avLst/>
          </a:prstGeom>
          <a:ln>
            <a:noFill/>
          </a:ln>
          <a:effectLst>
            <a:outerShdw blurRad="292100" dist="139700" dir="2700000" algn="tl" rotWithShape="0">
              <a:srgbClr val="333333">
                <a:alpha val="65000"/>
              </a:srgbClr>
            </a:outerShdw>
          </a:effectLst>
        </p:spPr>
      </p:pic>
      <p:sp>
        <p:nvSpPr>
          <p:cNvPr id="8" name="Google Shape;91;p15">
            <a:extLst>
              <a:ext uri="{FF2B5EF4-FFF2-40B4-BE49-F238E27FC236}">
                <a16:creationId xmlns:a16="http://schemas.microsoft.com/office/drawing/2014/main" id="{00B61E07-9F29-7A31-F58C-796899806C93}"/>
              </a:ext>
            </a:extLst>
          </p:cNvPr>
          <p:cNvSpPr txBox="1">
            <a:spLocks/>
          </p:cNvSpPr>
          <p:nvPr/>
        </p:nvSpPr>
        <p:spPr>
          <a:xfrm>
            <a:off x="1302881" y="141901"/>
            <a:ext cx="9075875" cy="1899821"/>
          </a:xfrm>
          <a:prstGeom prst="rect">
            <a:avLst/>
          </a:prstGeom>
          <a:noFill/>
          <a:ln>
            <a:noFill/>
          </a:ln>
        </p:spPr>
        <p:txBody>
          <a:bodyPr spcFirstLastPara="1" vert="horz" wrap="square" lIns="91425" tIns="45700" rIns="91425" bIns="4570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rgbClr val="F5F0F0"/>
              </a:buClr>
              <a:buSzPts val="2400"/>
            </a:pPr>
            <a:r>
              <a:rPr lang="en-US" sz="3600" b="1" dirty="0">
                <a:solidFill>
                  <a:srgbClr val="002060"/>
                </a:solidFill>
                <a:latin typeface="Times New Roman" panose="02020603050405020304" pitchFamily="18" charset="0"/>
                <a:cs typeface="Times New Roman" panose="02020603050405020304" pitchFamily="18" charset="0"/>
              </a:rPr>
              <a:t>Summer Internship Project</a:t>
            </a:r>
            <a:endParaRPr lang="en-US" sz="2000" b="1" dirty="0">
              <a:solidFill>
                <a:srgbClr val="002060"/>
              </a:solidFill>
              <a:latin typeface="Times New Roman" panose="02020603050405020304" pitchFamily="18" charset="0"/>
              <a:ea typeface="Times New Roman"/>
              <a:cs typeface="Times New Roman" panose="02020603050405020304" pitchFamily="18" charset="0"/>
              <a:sym typeface="Times New Roman"/>
            </a:endParaRPr>
          </a:p>
        </p:txBody>
      </p:sp>
      <p:sp>
        <p:nvSpPr>
          <p:cNvPr id="10" name="Google Shape;99;p16">
            <a:extLst>
              <a:ext uri="{FF2B5EF4-FFF2-40B4-BE49-F238E27FC236}">
                <a16:creationId xmlns:a16="http://schemas.microsoft.com/office/drawing/2014/main" id="{D87C2B19-0A0B-8A71-B22C-86DFBC336C11}"/>
              </a:ext>
            </a:extLst>
          </p:cNvPr>
          <p:cNvSpPr txBox="1">
            <a:spLocks/>
          </p:cNvSpPr>
          <p:nvPr/>
        </p:nvSpPr>
        <p:spPr>
          <a:xfrm>
            <a:off x="429889" y="4363712"/>
            <a:ext cx="3891600" cy="568800"/>
          </a:xfrm>
          <a:prstGeom prst="rect">
            <a:avLst/>
          </a:prstGeom>
          <a:noFill/>
          <a:ln>
            <a:noFill/>
          </a:ln>
        </p:spPr>
        <p:txBody>
          <a:bodyPr spcFirstLastPara="1" wrap="square" lIns="91425" tIns="45700" rIns="91425" bIns="45700" anchor="b"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lt1"/>
              </a:buClr>
              <a:buSzPts val="4800"/>
              <a:buFont typeface="Arial"/>
              <a:buNone/>
              <a:defRPr sz="4800" b="0" i="0" u="none" strike="noStrike" cap="none">
                <a:solidFill>
                  <a:schemeClr val="lt1"/>
                </a:solidFill>
                <a:latin typeface="Times New Roman" panose="02020603050405020304" pitchFamily="18"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chemeClr val="dk1"/>
              </a:buClr>
              <a:buSzPts val="2400"/>
              <a:buFont typeface="Times New Roman"/>
              <a:buNone/>
            </a:pPr>
            <a:r>
              <a:rPr lang="en-US" sz="2400" b="1" dirty="0">
                <a:solidFill>
                  <a:srgbClr val="002060"/>
                </a:solidFill>
                <a:latin typeface="Times New Roman"/>
                <a:ea typeface="Times New Roman"/>
                <a:cs typeface="Times New Roman"/>
                <a:sym typeface="Times New Roman"/>
              </a:rPr>
              <a:t>Submitted by:</a:t>
            </a:r>
            <a:endParaRPr lang="en-US" b="1" dirty="0">
              <a:solidFill>
                <a:srgbClr val="002060"/>
              </a:solidFill>
            </a:endParaRPr>
          </a:p>
        </p:txBody>
      </p:sp>
      <p:sp>
        <p:nvSpPr>
          <p:cNvPr id="11" name="Google Shape;99;p16">
            <a:extLst>
              <a:ext uri="{FF2B5EF4-FFF2-40B4-BE49-F238E27FC236}">
                <a16:creationId xmlns:a16="http://schemas.microsoft.com/office/drawing/2014/main" id="{BF941133-C7FE-DB7F-992D-01D43A71EF6A}"/>
              </a:ext>
            </a:extLst>
          </p:cNvPr>
          <p:cNvSpPr txBox="1">
            <a:spLocks/>
          </p:cNvSpPr>
          <p:nvPr/>
        </p:nvSpPr>
        <p:spPr>
          <a:xfrm>
            <a:off x="1631494" y="1972964"/>
            <a:ext cx="9302108" cy="568801"/>
          </a:xfrm>
          <a:prstGeom prst="rect">
            <a:avLst/>
          </a:prstGeom>
          <a:noFill/>
          <a:ln>
            <a:noFill/>
          </a:ln>
        </p:spPr>
        <p:txBody>
          <a:bodyPr spcFirstLastPara="1" wrap="square" lIns="91425" tIns="45700" rIns="91425" bIns="45700" anchor="b" anchorCtr="0">
            <a:normAutofit fontScale="85000"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lt1"/>
              </a:buClr>
              <a:buSzPts val="4800"/>
              <a:buFont typeface="Arial"/>
              <a:buNone/>
              <a:defRPr sz="4800" b="0" i="0" u="none" strike="noStrike" cap="none">
                <a:solidFill>
                  <a:schemeClr val="lt1"/>
                </a:solidFill>
                <a:latin typeface="Times New Roman" panose="02020603050405020304" pitchFamily="18"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chemeClr val="dk1"/>
              </a:buClr>
              <a:buSzPts val="2400"/>
            </a:pPr>
            <a:r>
              <a:rPr lang="en-US" sz="3000" b="1" dirty="0">
                <a:solidFill>
                  <a:srgbClr val="002060"/>
                </a:solidFill>
                <a:latin typeface="Times New Roman"/>
                <a:ea typeface="Times New Roman"/>
                <a:cs typeface="Times New Roman"/>
                <a:sym typeface="Times New Roman"/>
              </a:rPr>
              <a:t>Project Title</a:t>
            </a:r>
            <a:r>
              <a:rPr lang="en-US" sz="2400" dirty="0">
                <a:solidFill>
                  <a:srgbClr val="002060"/>
                </a:solidFill>
                <a:latin typeface="Times New Roman"/>
                <a:ea typeface="Times New Roman"/>
                <a:cs typeface="Times New Roman"/>
                <a:sym typeface="Times New Roman"/>
              </a:rPr>
              <a:t> : </a:t>
            </a:r>
            <a:r>
              <a:rPr lang="en-US" sz="3100" b="1" dirty="0">
                <a:solidFill>
                  <a:srgbClr val="002060"/>
                </a:solidFill>
                <a:cs typeface="Times New Roman" panose="02020603050405020304" pitchFamily="18" charset="0"/>
              </a:rPr>
              <a:t>Development of Telugu Large Language Model</a:t>
            </a:r>
            <a:endParaRPr lang="en-US" dirty="0">
              <a:solidFill>
                <a:srgbClr val="002060"/>
              </a:solidFill>
            </a:endParaRPr>
          </a:p>
        </p:txBody>
      </p:sp>
      <p:sp>
        <p:nvSpPr>
          <p:cNvPr id="12" name="Google Shape;100;p16">
            <a:extLst>
              <a:ext uri="{FF2B5EF4-FFF2-40B4-BE49-F238E27FC236}">
                <a16:creationId xmlns:a16="http://schemas.microsoft.com/office/drawing/2014/main" id="{CF9E26B7-BD2F-05AD-0547-C1A13A84EF8E}"/>
              </a:ext>
            </a:extLst>
          </p:cNvPr>
          <p:cNvSpPr txBox="1">
            <a:spLocks/>
          </p:cNvSpPr>
          <p:nvPr/>
        </p:nvSpPr>
        <p:spPr>
          <a:xfrm>
            <a:off x="429889" y="4908757"/>
            <a:ext cx="4678200" cy="961225"/>
          </a:xfrm>
          <a:prstGeom prst="rect">
            <a:avLst/>
          </a:prstGeom>
          <a:noFill/>
          <a:ln>
            <a:noFill/>
          </a:ln>
        </p:spPr>
        <p:txBody>
          <a:bodyPr spcFirstLastPara="1" wrap="square" lIns="91425" tIns="45700" rIns="91425" bIns="45700" anchor="t" anchorCtr="0">
            <a:normAutofit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badi" panose="020B0604020104020204" pitchFamily="34" charset="0"/>
                <a:ea typeface="Abadi" panose="020B0604020104020204" pitchFamily="34" charset="0"/>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buClr>
                <a:schemeClr val="dk1"/>
              </a:buClr>
              <a:buSzPts val="1800"/>
            </a:pPr>
            <a:r>
              <a:rPr lang="en-US" sz="2400" dirty="0">
                <a:solidFill>
                  <a:srgbClr val="002060"/>
                </a:solidFill>
                <a:latin typeface="Times New Roman"/>
                <a:ea typeface="Times New Roman"/>
                <a:cs typeface="Times New Roman"/>
                <a:sym typeface="Times New Roman"/>
              </a:rPr>
              <a:t>M. Yethishwar  -   160722747097</a:t>
            </a:r>
          </a:p>
          <a:p>
            <a:pPr>
              <a:lnSpc>
                <a:spcPct val="130000"/>
              </a:lnSpc>
              <a:buClr>
                <a:schemeClr val="dk1"/>
              </a:buClr>
              <a:buSzPts val="1800"/>
            </a:pPr>
            <a:r>
              <a:rPr lang="en-US" sz="2400" dirty="0">
                <a:solidFill>
                  <a:srgbClr val="002060"/>
                </a:solidFill>
                <a:latin typeface="Times New Roman"/>
                <a:cs typeface="Times New Roman"/>
              </a:rPr>
              <a:t>Branch – AI&amp;DS</a:t>
            </a:r>
          </a:p>
        </p:txBody>
      </p:sp>
      <p:sp>
        <p:nvSpPr>
          <p:cNvPr id="13" name="Google Shape;102;p16">
            <a:extLst>
              <a:ext uri="{FF2B5EF4-FFF2-40B4-BE49-F238E27FC236}">
                <a16:creationId xmlns:a16="http://schemas.microsoft.com/office/drawing/2014/main" id="{69E948DA-3AF7-0BB1-A04C-337E3C9B9D31}"/>
              </a:ext>
            </a:extLst>
          </p:cNvPr>
          <p:cNvSpPr txBox="1"/>
          <p:nvPr/>
        </p:nvSpPr>
        <p:spPr>
          <a:xfrm>
            <a:off x="5406013" y="3221167"/>
            <a:ext cx="3891600" cy="568800"/>
          </a:xfrm>
          <a:prstGeom prst="rect">
            <a:avLst/>
          </a:prstGeom>
          <a:noFill/>
          <a:ln>
            <a:noFill/>
          </a:ln>
        </p:spPr>
        <p:txBody>
          <a:bodyPr spcFirstLastPara="1" wrap="square" lIns="91425" tIns="45700" rIns="91425" bIns="45700" anchor="b" anchorCtr="0">
            <a:normAutofit/>
          </a:bodyPr>
          <a:lstStyle/>
          <a:p>
            <a:pPr marL="0" marR="0" lvl="0" indent="0" algn="l" rtl="0">
              <a:lnSpc>
                <a:spcPct val="90000"/>
              </a:lnSpc>
              <a:spcBef>
                <a:spcPts val="0"/>
              </a:spcBef>
              <a:spcAft>
                <a:spcPts val="0"/>
              </a:spcAft>
              <a:buClr>
                <a:schemeClr val="dk1"/>
              </a:buClr>
              <a:buSzPts val="2400"/>
              <a:buFont typeface="Times New Roman"/>
              <a:buNone/>
            </a:pPr>
            <a:r>
              <a:rPr lang="en-US" sz="2400" b="1" i="0" u="none" strike="noStrike" cap="none" dirty="0">
                <a:solidFill>
                  <a:srgbClr val="002060"/>
                </a:solidFill>
                <a:latin typeface="Times New Roman"/>
                <a:ea typeface="Times New Roman"/>
                <a:cs typeface="Times New Roman"/>
                <a:sym typeface="Times New Roman"/>
              </a:rPr>
              <a:t>Under the Guidance of: </a:t>
            </a:r>
            <a:endParaRPr sz="1400" b="1" i="0" u="none" strike="noStrike" cap="none" dirty="0">
              <a:solidFill>
                <a:srgbClr val="002060"/>
              </a:solidFill>
              <a:latin typeface="Times New Roman" panose="02020603050405020304" pitchFamily="18" charset="0"/>
              <a:sym typeface="Arial"/>
            </a:endParaRPr>
          </a:p>
        </p:txBody>
      </p:sp>
      <p:sp>
        <p:nvSpPr>
          <p:cNvPr id="16" name="Google Shape;93;p15">
            <a:extLst>
              <a:ext uri="{FF2B5EF4-FFF2-40B4-BE49-F238E27FC236}">
                <a16:creationId xmlns:a16="http://schemas.microsoft.com/office/drawing/2014/main" id="{35309B82-5CEF-28DA-C0B9-01CAEFA334BB}"/>
              </a:ext>
            </a:extLst>
          </p:cNvPr>
          <p:cNvSpPr txBox="1"/>
          <p:nvPr/>
        </p:nvSpPr>
        <p:spPr>
          <a:xfrm>
            <a:off x="2295432" y="6111957"/>
            <a:ext cx="7974232" cy="76940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2400" dirty="0">
                <a:solidFill>
                  <a:srgbClr val="002060"/>
                </a:solidFill>
                <a:latin typeface="+mj-lt"/>
                <a:cs typeface="Arial" panose="020B0604020202020204" pitchFamily="34" charset="0"/>
                <a:sym typeface="Times New Roman"/>
              </a:rPr>
              <a:t>Department of Computer Science and Engineering, MCET</a:t>
            </a:r>
          </a:p>
          <a:p>
            <a:pPr marL="0" marR="0" lvl="0" indent="0" algn="ctr" rtl="0">
              <a:lnSpc>
                <a:spcPct val="100000"/>
              </a:lnSpc>
              <a:spcBef>
                <a:spcPts val="0"/>
              </a:spcBef>
              <a:spcAft>
                <a:spcPts val="0"/>
              </a:spcAft>
              <a:buClr>
                <a:srgbClr val="000000"/>
              </a:buClr>
              <a:buSzPts val="1800"/>
              <a:buFont typeface="Arial"/>
              <a:buNone/>
            </a:pPr>
            <a:r>
              <a:rPr lang="en-US" sz="2000" dirty="0">
                <a:solidFill>
                  <a:srgbClr val="002060"/>
                </a:solidFill>
                <a:latin typeface="+mj-lt"/>
                <a:cs typeface="Arial" panose="020B0604020202020204" pitchFamily="34" charset="0"/>
                <a:sym typeface="Times New Roman"/>
              </a:rPr>
              <a:t>Department of Artificial Intelligence and Data Science</a:t>
            </a:r>
            <a:endParaRPr sz="2000" dirty="0">
              <a:solidFill>
                <a:srgbClr val="002060"/>
              </a:solidFill>
              <a:latin typeface="+mj-lt"/>
              <a:cs typeface="Arial" panose="020B0604020202020204" pitchFamily="34" charset="0"/>
              <a:sym typeface="Arial"/>
            </a:endParaRPr>
          </a:p>
        </p:txBody>
      </p:sp>
      <p:sp>
        <p:nvSpPr>
          <p:cNvPr id="19" name="Google Shape;103;p16">
            <a:extLst>
              <a:ext uri="{FF2B5EF4-FFF2-40B4-BE49-F238E27FC236}">
                <a16:creationId xmlns:a16="http://schemas.microsoft.com/office/drawing/2014/main" id="{9F597DF5-5FF4-EA90-DD1C-CF2BBA91D18E}"/>
              </a:ext>
            </a:extLst>
          </p:cNvPr>
          <p:cNvSpPr txBox="1"/>
          <p:nvPr/>
        </p:nvSpPr>
        <p:spPr>
          <a:xfrm>
            <a:off x="5406013" y="3793916"/>
            <a:ext cx="6405950"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2060"/>
                </a:solidFill>
                <a:latin typeface="Times New Roman"/>
                <a:ea typeface="Times New Roman"/>
                <a:cs typeface="Times New Roman"/>
                <a:sym typeface="Times New Roman"/>
              </a:rPr>
              <a:t>Mrs. Unnati Mohan Khanapurkar </a:t>
            </a:r>
            <a:r>
              <a:rPr lang="en-US" sz="1800" dirty="0">
                <a:solidFill>
                  <a:srgbClr val="002060"/>
                </a:solidFill>
                <a:latin typeface="Times New Roman"/>
                <a:ea typeface="Times New Roman"/>
                <a:cs typeface="Times New Roman"/>
                <a:sym typeface="Times New Roman"/>
              </a:rPr>
              <a:t>(</a:t>
            </a:r>
            <a:r>
              <a:rPr lang="en-US" sz="1800" b="0" i="0" u="none" strike="noStrike" cap="none" dirty="0">
                <a:solidFill>
                  <a:srgbClr val="002060"/>
                </a:solidFill>
                <a:latin typeface="Times New Roman"/>
                <a:ea typeface="Times New Roman"/>
                <a:cs typeface="Times New Roman"/>
                <a:sym typeface="Times New Roman"/>
              </a:rPr>
              <a:t>Assistant Professor- CSE Dept)</a:t>
            </a:r>
            <a:endParaRPr sz="1800" b="0" i="0" u="none" strike="noStrike" cap="none" dirty="0">
              <a:solidFill>
                <a:srgbClr val="002060"/>
              </a:solidFill>
              <a:latin typeface="Times New Roman"/>
              <a:ea typeface="Times New Roman"/>
              <a:cs typeface="Times New Roman"/>
              <a:sym typeface="Times New Roman"/>
            </a:endParaRPr>
          </a:p>
        </p:txBody>
      </p:sp>
      <p:sp>
        <p:nvSpPr>
          <p:cNvPr id="21" name="Google Shape;102;p16">
            <a:extLst>
              <a:ext uri="{FF2B5EF4-FFF2-40B4-BE49-F238E27FC236}">
                <a16:creationId xmlns:a16="http://schemas.microsoft.com/office/drawing/2014/main" id="{31F0DFE1-1DD7-BB6C-F275-D846093752FE}"/>
              </a:ext>
            </a:extLst>
          </p:cNvPr>
          <p:cNvSpPr txBox="1"/>
          <p:nvPr/>
        </p:nvSpPr>
        <p:spPr>
          <a:xfrm>
            <a:off x="5406013" y="4344590"/>
            <a:ext cx="3891600" cy="568800"/>
          </a:xfrm>
          <a:prstGeom prst="rect">
            <a:avLst/>
          </a:prstGeom>
          <a:noFill/>
          <a:ln>
            <a:noFill/>
          </a:ln>
        </p:spPr>
        <p:txBody>
          <a:bodyPr spcFirstLastPara="1" wrap="square" lIns="91425" tIns="45700" rIns="91425" bIns="45700" anchor="b" anchorCtr="0">
            <a:normAutofit/>
          </a:bodyPr>
          <a:lstStyle/>
          <a:p>
            <a:pPr marL="0" marR="0" lvl="0" indent="0" algn="l" rtl="0">
              <a:lnSpc>
                <a:spcPct val="90000"/>
              </a:lnSpc>
              <a:spcBef>
                <a:spcPts val="0"/>
              </a:spcBef>
              <a:spcAft>
                <a:spcPts val="0"/>
              </a:spcAft>
              <a:buClr>
                <a:schemeClr val="dk1"/>
              </a:buClr>
              <a:buSzPts val="2400"/>
              <a:buFont typeface="Times New Roman"/>
              <a:buNone/>
            </a:pPr>
            <a:r>
              <a:rPr lang="en-US" sz="2400" b="1" i="0" u="none" strike="noStrike" cap="none" dirty="0">
                <a:solidFill>
                  <a:srgbClr val="002060"/>
                </a:solidFill>
                <a:latin typeface="Times New Roman"/>
                <a:ea typeface="Times New Roman"/>
                <a:cs typeface="Times New Roman"/>
                <a:sym typeface="Times New Roman"/>
              </a:rPr>
              <a:t>Coordinator:</a:t>
            </a:r>
            <a:endParaRPr sz="1400" b="1" i="0" u="none" strike="noStrike" cap="none" dirty="0">
              <a:solidFill>
                <a:srgbClr val="002060"/>
              </a:solidFill>
              <a:latin typeface="Times New Roman" panose="02020603050405020304" pitchFamily="18" charset="0"/>
              <a:sym typeface="Arial"/>
            </a:endParaRPr>
          </a:p>
        </p:txBody>
      </p:sp>
      <p:sp>
        <p:nvSpPr>
          <p:cNvPr id="22" name="Google Shape;103;p16">
            <a:extLst>
              <a:ext uri="{FF2B5EF4-FFF2-40B4-BE49-F238E27FC236}">
                <a16:creationId xmlns:a16="http://schemas.microsoft.com/office/drawing/2014/main" id="{A4A17701-1AD7-F6EB-4A18-72187991D072}"/>
              </a:ext>
            </a:extLst>
          </p:cNvPr>
          <p:cNvSpPr txBox="1"/>
          <p:nvPr/>
        </p:nvSpPr>
        <p:spPr>
          <a:xfrm>
            <a:off x="5406013" y="4885036"/>
            <a:ext cx="6405950" cy="369291"/>
          </a:xfrm>
          <a:prstGeom prst="rect">
            <a:avLst/>
          </a:prstGeom>
          <a:noFill/>
          <a:ln>
            <a:noFill/>
          </a:ln>
        </p:spPr>
        <p:txBody>
          <a:bodyPr spcFirstLastPara="1" wrap="square" lIns="91425" tIns="45700" rIns="91425" bIns="45700" anchor="t" anchorCtr="0">
            <a:spAutoFit/>
          </a:bodyPr>
          <a:lstStyle/>
          <a:p>
            <a:pPr lvl="0">
              <a:buClr>
                <a:srgbClr val="000000"/>
              </a:buClr>
              <a:buSzPts val="1800"/>
            </a:pPr>
            <a:r>
              <a:rPr lang="en-IN" dirty="0">
                <a:solidFill>
                  <a:srgbClr val="002060"/>
                </a:solidFill>
                <a:latin typeface="Times New Roman"/>
                <a:cs typeface="Times New Roman"/>
              </a:rPr>
              <a:t>Dr. Shaik Khaleel Ahmed (Associate Professor – CSE Dept)</a:t>
            </a:r>
            <a:endParaRPr dirty="0">
              <a:solidFill>
                <a:srgbClr val="002060"/>
              </a:solidFill>
              <a:latin typeface="Times New Roman"/>
              <a:cs typeface="Times New Roman"/>
              <a:sym typeface="Times New Roman"/>
            </a:endParaRPr>
          </a:p>
        </p:txBody>
      </p:sp>
      <p:sp>
        <p:nvSpPr>
          <p:cNvPr id="2" name="Google Shape;99;p16">
            <a:extLst>
              <a:ext uri="{FF2B5EF4-FFF2-40B4-BE49-F238E27FC236}">
                <a16:creationId xmlns:a16="http://schemas.microsoft.com/office/drawing/2014/main" id="{C58B894E-80E1-164E-35A9-5A60BBEE205B}"/>
              </a:ext>
            </a:extLst>
          </p:cNvPr>
          <p:cNvSpPr txBox="1">
            <a:spLocks/>
          </p:cNvSpPr>
          <p:nvPr/>
        </p:nvSpPr>
        <p:spPr>
          <a:xfrm>
            <a:off x="429889" y="2979193"/>
            <a:ext cx="3891600" cy="568800"/>
          </a:xfrm>
          <a:prstGeom prst="rect">
            <a:avLst/>
          </a:prstGeom>
          <a:noFill/>
          <a:ln>
            <a:noFill/>
          </a:ln>
        </p:spPr>
        <p:txBody>
          <a:bodyPr spcFirstLastPara="1" wrap="square" lIns="91425" tIns="45700" rIns="91425" bIns="45700" anchor="b"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lt1"/>
              </a:buClr>
              <a:buSzPts val="4800"/>
              <a:buFont typeface="Arial"/>
              <a:buNone/>
              <a:defRPr sz="4800" b="0" i="0" u="none" strike="noStrike" cap="none">
                <a:solidFill>
                  <a:schemeClr val="lt1"/>
                </a:solidFill>
                <a:latin typeface="Times New Roman" panose="02020603050405020304" pitchFamily="18"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chemeClr val="dk1"/>
              </a:buClr>
              <a:buSzPts val="2400"/>
              <a:buFont typeface="Times New Roman"/>
              <a:buNone/>
            </a:pPr>
            <a:r>
              <a:rPr lang="en-US" sz="2400" b="1" dirty="0">
                <a:solidFill>
                  <a:srgbClr val="002060"/>
                </a:solidFill>
                <a:latin typeface="Times New Roman"/>
                <a:ea typeface="Times New Roman"/>
                <a:cs typeface="Times New Roman"/>
                <a:sym typeface="Times New Roman"/>
              </a:rPr>
              <a:t>Role &amp; Duration:</a:t>
            </a:r>
            <a:endParaRPr lang="en-US" b="1" dirty="0">
              <a:solidFill>
                <a:srgbClr val="002060"/>
              </a:solidFill>
            </a:endParaRPr>
          </a:p>
        </p:txBody>
      </p:sp>
      <p:sp>
        <p:nvSpPr>
          <p:cNvPr id="3" name="Google Shape;100;p16">
            <a:extLst>
              <a:ext uri="{FF2B5EF4-FFF2-40B4-BE49-F238E27FC236}">
                <a16:creationId xmlns:a16="http://schemas.microsoft.com/office/drawing/2014/main" id="{84E14D41-7BDA-74F7-9B7A-C9669B93D04F}"/>
              </a:ext>
            </a:extLst>
          </p:cNvPr>
          <p:cNvSpPr txBox="1">
            <a:spLocks/>
          </p:cNvSpPr>
          <p:nvPr/>
        </p:nvSpPr>
        <p:spPr>
          <a:xfrm>
            <a:off x="421819" y="3529431"/>
            <a:ext cx="4678200" cy="5688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badi" panose="020B0604020104020204" pitchFamily="34" charset="0"/>
                <a:ea typeface="Abadi" panose="020B0604020104020204" pitchFamily="34" charset="0"/>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buClr>
                <a:schemeClr val="dk1"/>
              </a:buClr>
              <a:buSzPts val="1800"/>
            </a:pPr>
            <a:r>
              <a:rPr lang="en-US" sz="2400" dirty="0">
                <a:solidFill>
                  <a:srgbClr val="002060"/>
                </a:solidFill>
                <a:latin typeface="Times New Roman"/>
                <a:ea typeface="Times New Roman"/>
                <a:cs typeface="Times New Roman"/>
                <a:sym typeface="Times New Roman"/>
              </a:rPr>
              <a:t>Tech Lead, 8 Weeks (Hybrid)</a:t>
            </a:r>
            <a:endParaRPr lang="en-US" sz="2400" dirty="0">
              <a:solidFill>
                <a:srgbClr val="002060"/>
              </a:solidFill>
            </a:endParaRPr>
          </a:p>
        </p:txBody>
      </p:sp>
    </p:spTree>
    <p:extLst>
      <p:ext uri="{BB962C8B-B14F-4D97-AF65-F5344CB8AC3E}">
        <p14:creationId xmlns:p14="http://schemas.microsoft.com/office/powerpoint/2010/main" val="39024268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7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181D-911C-1343-7267-E35AC86CCA0E}"/>
              </a:ext>
            </a:extLst>
          </p:cNvPr>
          <p:cNvSpPr>
            <a:spLocks noGrp="1"/>
          </p:cNvSpPr>
          <p:nvPr>
            <p:ph type="title"/>
          </p:nvPr>
        </p:nvSpPr>
        <p:spPr>
          <a:xfrm>
            <a:off x="4906841" y="410787"/>
            <a:ext cx="3227065" cy="833119"/>
          </a:xfrm>
          <a:noFill/>
        </p:spPr>
        <p:txBody>
          <a:bodyPr anchor="ctr">
            <a:noAutofit/>
          </a:bodyPr>
          <a:lstStyle/>
          <a:p>
            <a:r>
              <a:rPr lang="en-US" dirty="0">
                <a:latin typeface="Sans Serif Collection" panose="020B0502040504020204" pitchFamily="34" charset="0"/>
              </a:rPr>
              <a:t>Abstract</a:t>
            </a:r>
          </a:p>
        </p:txBody>
      </p:sp>
      <p:sp>
        <p:nvSpPr>
          <p:cNvPr id="9" name="Slide Number Placeholder 8">
            <a:extLst>
              <a:ext uri="{FF2B5EF4-FFF2-40B4-BE49-F238E27FC236}">
                <a16:creationId xmlns:a16="http://schemas.microsoft.com/office/drawing/2014/main" id="{E6AA7FF5-11CA-8F71-5951-B1099396287A}"/>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2</a:t>
            </a:fld>
            <a:endParaRPr lang="en-US" dirty="0"/>
          </a:p>
        </p:txBody>
      </p:sp>
      <p:sp>
        <p:nvSpPr>
          <p:cNvPr id="4" name="Content Placeholder 2">
            <a:extLst>
              <a:ext uri="{FF2B5EF4-FFF2-40B4-BE49-F238E27FC236}">
                <a16:creationId xmlns:a16="http://schemas.microsoft.com/office/drawing/2014/main" id="{16C221F1-54AA-3F1C-1D4D-CA53818E7EA8}"/>
              </a:ext>
            </a:extLst>
          </p:cNvPr>
          <p:cNvSpPr>
            <a:spLocks noGrp="1"/>
          </p:cNvSpPr>
          <p:nvPr>
            <p:ph idx="1"/>
          </p:nvPr>
        </p:nvSpPr>
        <p:spPr>
          <a:xfrm>
            <a:off x="1095154" y="1253331"/>
            <a:ext cx="10259791" cy="4351338"/>
          </a:xfrm>
        </p:spPr>
        <p:txBody>
          <a:bodyPr>
            <a:normAutofit/>
          </a:bodyPr>
          <a:lstStyle/>
          <a:p>
            <a:pPr algn="just">
              <a:lnSpc>
                <a:spcPct val="180000"/>
              </a:lnSpc>
            </a:pPr>
            <a:r>
              <a:rPr lang="en-US" cap="none" dirty="0">
                <a:latin typeface="Sans Serif Collection" panose="020B0502040504020204" pitchFamily="34" charset="0"/>
                <a:ea typeface="Sans Serif Collection" panose="020B0502040504020204" pitchFamily="34" charset="0"/>
                <a:cs typeface="Sans Serif Collection" panose="020B0502040504020204" pitchFamily="34" charset="0"/>
              </a:rPr>
              <a:t>As a tech lead for Telugu large language models, I guided interns in understanding real-world Project Objectives and activities in technical and non technical perspective. I oversaw the full pipeline—from data collection, cleaning, and normalization to tokenization design and model training. I ensured smooth training of transformer models, reviewed intern progress, and helped them build practical skills in machine learning. The work focused on improving Telugu datasets and creating more accurate, useful language models.</a:t>
            </a:r>
            <a:endParaRPr lang="en-IN" cap="none"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6" name="Google Shape;92;p15">
            <a:extLst>
              <a:ext uri="{FF2B5EF4-FFF2-40B4-BE49-F238E27FC236}">
                <a16:creationId xmlns:a16="http://schemas.microsoft.com/office/drawing/2014/main" id="{2F1F2285-FB2E-5A16-BF00-23740338C009}"/>
              </a:ext>
            </a:extLst>
          </p:cNvPr>
          <p:cNvPicPr preferRelativeResize="0"/>
          <p:nvPr/>
        </p:nvPicPr>
        <p:blipFill rotWithShape="1">
          <a:blip r:embed="rId2">
            <a:alphaModFix amt="70000"/>
          </a:blip>
          <a:srcRect/>
          <a:stretch/>
        </p:blipFill>
        <p:spPr>
          <a:xfrm>
            <a:off x="441107" y="410787"/>
            <a:ext cx="1060188" cy="1008747"/>
          </a:xfrm>
          <a:prstGeom prst="rect">
            <a:avLst/>
          </a:prstGeom>
          <a:noFill/>
          <a:ln>
            <a:noFill/>
          </a:ln>
        </p:spPr>
      </p:pic>
      <p:sp>
        <p:nvSpPr>
          <p:cNvPr id="10" name="Google Shape;93;p15">
            <a:extLst>
              <a:ext uri="{FF2B5EF4-FFF2-40B4-BE49-F238E27FC236}">
                <a16:creationId xmlns:a16="http://schemas.microsoft.com/office/drawing/2014/main" id="{77E95000-D25E-0482-9F4A-AD553ABB3B91}"/>
              </a:ext>
            </a:extLst>
          </p:cNvPr>
          <p:cNvSpPr txBox="1"/>
          <p:nvPr/>
        </p:nvSpPr>
        <p:spPr>
          <a:xfrm>
            <a:off x="3179135" y="6277232"/>
            <a:ext cx="6476536" cy="40006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2000" dirty="0">
                <a:solidFill>
                  <a:schemeClr val="bg2">
                    <a:lumMod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sym typeface="Times New Roman"/>
              </a:rPr>
              <a:t>Department of Computer Science and Engineering</a:t>
            </a:r>
            <a:endParaRPr sz="2000" dirty="0">
              <a:solidFill>
                <a:schemeClr val="bg2">
                  <a:lumMod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sym typeface="Arial"/>
            </a:endParaRPr>
          </a:p>
        </p:txBody>
      </p:sp>
    </p:spTree>
    <p:extLst>
      <p:ext uri="{BB962C8B-B14F-4D97-AF65-F5344CB8AC3E}">
        <p14:creationId xmlns:p14="http://schemas.microsoft.com/office/powerpoint/2010/main" val="3018507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19200000" scaled="0"/>
        </a:gradFill>
        <a:effectLst/>
      </p:bgPr>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FD7B9109-9E17-1A7A-3A9A-0F1C07BF36A3}"/>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latin typeface="Sans Serif Collection" panose="020B0502040504020204" pitchFamily="34" charset="0"/>
                <a:ea typeface="Sans Serif Collection" panose="020B0502040504020204" pitchFamily="34" charset="0"/>
                <a:cs typeface="Sans Serif Collection" panose="020B0502040504020204" pitchFamily="34" charset="0"/>
              </a:rPr>
              <a:pPr/>
              <a:t>3</a:t>
            </a:fld>
            <a:endParaRPr lang="en-US"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5" name="Google Shape;92;p15">
            <a:extLst>
              <a:ext uri="{FF2B5EF4-FFF2-40B4-BE49-F238E27FC236}">
                <a16:creationId xmlns:a16="http://schemas.microsoft.com/office/drawing/2014/main" id="{40A8335C-58FB-3A78-504B-C71A5F20A50A}"/>
              </a:ext>
            </a:extLst>
          </p:cNvPr>
          <p:cNvPicPr preferRelativeResize="0"/>
          <p:nvPr/>
        </p:nvPicPr>
        <p:blipFill rotWithShape="1">
          <a:blip r:embed="rId3">
            <a:alphaModFix amt="70000"/>
          </a:blip>
          <a:srcRect/>
          <a:stretch/>
        </p:blipFill>
        <p:spPr>
          <a:xfrm>
            <a:off x="441107" y="410787"/>
            <a:ext cx="1060188" cy="1008747"/>
          </a:xfrm>
          <a:prstGeom prst="rect">
            <a:avLst/>
          </a:prstGeom>
          <a:noFill/>
          <a:ln>
            <a:noFill/>
          </a:ln>
        </p:spPr>
      </p:pic>
      <p:sp>
        <p:nvSpPr>
          <p:cNvPr id="6" name="Title 1">
            <a:extLst>
              <a:ext uri="{FF2B5EF4-FFF2-40B4-BE49-F238E27FC236}">
                <a16:creationId xmlns:a16="http://schemas.microsoft.com/office/drawing/2014/main" id="{7CE55F93-5D3C-44FD-B3DC-5D911E68BA83}"/>
              </a:ext>
            </a:extLst>
          </p:cNvPr>
          <p:cNvSpPr txBox="1">
            <a:spLocks/>
          </p:cNvSpPr>
          <p:nvPr/>
        </p:nvSpPr>
        <p:spPr>
          <a:xfrm>
            <a:off x="2850180" y="580319"/>
            <a:ext cx="7134446" cy="531868"/>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accent2">
                    <a:lumMod val="25000"/>
                  </a:schemeClr>
                </a:solidFill>
                <a:latin typeface="+mj-lt"/>
                <a:ea typeface="+mj-ea"/>
                <a:cs typeface="+mj-cs"/>
              </a:defRPr>
            </a:lvl1pPr>
          </a:lstStyle>
          <a:p>
            <a:r>
              <a:rPr lang="en-IN" dirty="0">
                <a:latin typeface="Sans Serif Collection" panose="020B0502040504020204" pitchFamily="34" charset="0"/>
                <a:ea typeface="Sans Serif Collection" panose="020B0502040504020204" pitchFamily="34" charset="0"/>
                <a:cs typeface="Sans Serif Collection" panose="020B0502040504020204" pitchFamily="34" charset="0"/>
              </a:rPr>
              <a:t>Organization &amp; Duration</a:t>
            </a:r>
            <a:endParaRPr lang="en-US"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 name="Google Shape;93;p15">
            <a:extLst>
              <a:ext uri="{FF2B5EF4-FFF2-40B4-BE49-F238E27FC236}">
                <a16:creationId xmlns:a16="http://schemas.microsoft.com/office/drawing/2014/main" id="{A198CDD1-671F-1C00-509E-9A911A84F614}"/>
              </a:ext>
            </a:extLst>
          </p:cNvPr>
          <p:cNvSpPr txBox="1"/>
          <p:nvPr/>
        </p:nvSpPr>
        <p:spPr>
          <a:xfrm>
            <a:off x="3179135" y="6277232"/>
            <a:ext cx="6476536" cy="40006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2000" dirty="0">
                <a:solidFill>
                  <a:schemeClr val="bg2">
                    <a:lumMod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sym typeface="Times New Roman"/>
              </a:rPr>
              <a:t>Department of Computer Science and Engineering</a:t>
            </a:r>
            <a:endParaRPr sz="2000" dirty="0">
              <a:solidFill>
                <a:schemeClr val="bg2">
                  <a:lumMod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sym typeface="Arial"/>
            </a:endParaRPr>
          </a:p>
        </p:txBody>
      </p:sp>
      <p:sp>
        <p:nvSpPr>
          <p:cNvPr id="3" name="Content Placeholder 2">
            <a:extLst>
              <a:ext uri="{FF2B5EF4-FFF2-40B4-BE49-F238E27FC236}">
                <a16:creationId xmlns:a16="http://schemas.microsoft.com/office/drawing/2014/main" id="{CBEEEF35-3BAA-1F6F-3B42-9FA646D6AC0C}"/>
              </a:ext>
            </a:extLst>
          </p:cNvPr>
          <p:cNvSpPr>
            <a:spLocks noGrp="1" noChangeArrowheads="1"/>
          </p:cNvSpPr>
          <p:nvPr>
            <p:ph idx="1"/>
          </p:nvPr>
        </p:nvSpPr>
        <p:spPr bwMode="auto">
          <a:xfrm>
            <a:off x="418849" y="1483123"/>
            <a:ext cx="11700263" cy="4126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fontAlgn="base">
              <a:lnSpc>
                <a:spcPct val="150000"/>
              </a:lnSpc>
              <a:spcAft>
                <a:spcPct val="0"/>
              </a:spcAft>
              <a:buFont typeface="Arial" panose="020B0604020202020204" pitchFamily="34" charset="0"/>
              <a:buChar char="•"/>
            </a:pPr>
            <a:r>
              <a:rPr lang="en-US" altLang="en-US" sz="2100" dirty="0">
                <a:latin typeface="Sans Serif Collection" panose="020B0502040504020204" pitchFamily="34" charset="0"/>
                <a:ea typeface="Sans Serif Collection" panose="020B0502040504020204" pitchFamily="34" charset="0"/>
                <a:cs typeface="Sans Serif Collection" panose="020B0502040504020204" pitchFamily="34" charset="0"/>
              </a:rPr>
              <a:t>VISWAM.ai is a Swecha–IIIT Hyderabad joint initiative focused on AI for the Global South</a:t>
            </a:r>
          </a:p>
          <a:p>
            <a:pPr marL="342900" lvl="0" indent="-342900" fontAlgn="base">
              <a:lnSpc>
                <a:spcPct val="150000"/>
              </a:lnSpc>
              <a:spcAft>
                <a:spcPct val="0"/>
              </a:spcAft>
              <a:buFont typeface="Arial" panose="020B0604020202020204" pitchFamily="34" charset="0"/>
              <a:buChar char="•"/>
            </a:pPr>
            <a:r>
              <a:rPr lang="en-US" altLang="en-US" sz="2100" dirty="0">
                <a:latin typeface="Sans Serif Collection" panose="020B0502040504020204" pitchFamily="34" charset="0"/>
                <a:ea typeface="Sans Serif Collection" panose="020B0502040504020204" pitchFamily="34" charset="0"/>
                <a:cs typeface="Sans Serif Collection" panose="020B0502040504020204" pitchFamily="34" charset="0"/>
              </a:rPr>
              <a:t>Venture for Innovation and Social Wellbeing through AI for the Marginalised.</a:t>
            </a:r>
          </a:p>
          <a:p>
            <a:pPr marL="342900" lvl="0" indent="-342900" fontAlgn="base">
              <a:lnSpc>
                <a:spcPct val="150000"/>
              </a:lnSpc>
              <a:spcAft>
                <a:spcPct val="0"/>
              </a:spcAft>
              <a:buFont typeface="Arial" panose="020B0604020202020204" pitchFamily="34" charset="0"/>
              <a:buChar char="•"/>
            </a:pPr>
            <a:r>
              <a:rPr lang="en-US" altLang="en-US" sz="2100" dirty="0">
                <a:latin typeface="Sans Serif Collection" panose="020B0502040504020204" pitchFamily="34" charset="0"/>
                <a:ea typeface="Sans Serif Collection" panose="020B0502040504020204" pitchFamily="34" charset="0"/>
                <a:cs typeface="Sans Serif Collection" panose="020B0502040504020204" pitchFamily="34" charset="0"/>
              </a:rPr>
              <a:t>Evolved from Swecha's 2004 open-source movement to a 2024 AI Centre of Excellence.</a:t>
            </a:r>
          </a:p>
          <a:p>
            <a:pPr marL="342900" lvl="0" indent="-342900" fontAlgn="base">
              <a:lnSpc>
                <a:spcPct val="150000"/>
              </a:lnSpc>
              <a:spcAft>
                <a:spcPct val="0"/>
              </a:spcAft>
              <a:buFont typeface="Arial" panose="020B0604020202020204" pitchFamily="34" charset="0"/>
              <a:buChar char="•"/>
            </a:pPr>
            <a:r>
              <a:rPr lang="en-US" altLang="en-US" sz="2100" dirty="0">
                <a:latin typeface="Sans Serif Collection" panose="020B0502040504020204" pitchFamily="34" charset="0"/>
                <a:ea typeface="Sans Serif Collection" panose="020B0502040504020204" pitchFamily="34" charset="0"/>
                <a:cs typeface="Sans Serif Collection" panose="020B0502040504020204" pitchFamily="34" charset="0"/>
              </a:rPr>
              <a:t>Led by Y Kiran Chandra, Prof. P.J. Narayanan, and Jayesh Ranjan.</a:t>
            </a:r>
          </a:p>
          <a:p>
            <a:pPr marL="342900" lvl="0" indent="-342900" fontAlgn="base">
              <a:lnSpc>
                <a:spcPct val="150000"/>
              </a:lnSpc>
              <a:spcAft>
                <a:spcPct val="0"/>
              </a:spcAft>
              <a:buFont typeface="Arial" panose="020B0604020202020204" pitchFamily="34" charset="0"/>
              <a:buChar char="•"/>
            </a:pPr>
            <a:r>
              <a:rPr lang="en-US" altLang="en-US" sz="2100" dirty="0">
                <a:latin typeface="Sans Serif Collection" panose="020B0502040504020204" pitchFamily="34" charset="0"/>
                <a:ea typeface="Sans Serif Collection" panose="020B0502040504020204" pitchFamily="34" charset="0"/>
                <a:cs typeface="Sans Serif Collection" panose="020B0502040504020204" pitchFamily="34" charset="0"/>
              </a:rPr>
              <a:t>Key achievements include Gonthuka ASR, AI Chandamama Kathalu, and Swecha AI OS, driven by a large contributor community.</a:t>
            </a:r>
          </a:p>
          <a:p>
            <a:pPr marL="342900" marR="0" lvl="0" indent="-342900" fontAlgn="base">
              <a:lnSpc>
                <a:spcPct val="150000"/>
              </a:lnSpc>
              <a:spcAft>
                <a:spcPct val="0"/>
              </a:spcAft>
              <a:buClrTx/>
              <a:buSzTx/>
              <a:buFont typeface="Arial" panose="020B0604020202020204" pitchFamily="34" charset="0"/>
              <a:buChar char="•"/>
              <a:tabLst/>
            </a:pPr>
            <a:r>
              <a:rPr lang="en-US" altLang="en-US" sz="2100" dirty="0">
                <a:latin typeface="Sans Serif Collection" panose="020B0502040504020204" pitchFamily="34" charset="0"/>
                <a:ea typeface="Sans Serif Collection" panose="020B0502040504020204" pitchFamily="34" charset="0"/>
                <a:cs typeface="Sans Serif Collection" panose="020B0502040504020204" pitchFamily="34" charset="0"/>
              </a:rPr>
              <a:t>Mode: Hybrid — weekly in-office visit + online reviews for 8 weeks</a:t>
            </a:r>
          </a:p>
        </p:txBody>
      </p:sp>
    </p:spTree>
    <p:extLst>
      <p:ext uri="{BB962C8B-B14F-4D97-AF65-F5344CB8AC3E}">
        <p14:creationId xmlns:p14="http://schemas.microsoft.com/office/powerpoint/2010/main" val="3666674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20826-AB5F-030D-8264-05DEDFBEFCB7}"/>
            </a:ext>
          </a:extLst>
        </p:cNvPr>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2D6CE70B-7D67-2C51-EA6C-288D374F92A6}"/>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latin typeface="Sans Serif Collection" panose="020B0502040504020204" pitchFamily="34" charset="0"/>
                <a:ea typeface="Sans Serif Collection" panose="020B0502040504020204" pitchFamily="34" charset="0"/>
                <a:cs typeface="Sans Serif Collection" panose="020B0502040504020204" pitchFamily="34" charset="0"/>
              </a:rPr>
              <a:pPr/>
              <a:t>4</a:t>
            </a:fld>
            <a:endParaRPr lang="en-US"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5" name="Google Shape;92;p15">
            <a:extLst>
              <a:ext uri="{FF2B5EF4-FFF2-40B4-BE49-F238E27FC236}">
                <a16:creationId xmlns:a16="http://schemas.microsoft.com/office/drawing/2014/main" id="{B725C71C-6313-9ABF-F8CF-A0652D63CB3B}"/>
              </a:ext>
            </a:extLst>
          </p:cNvPr>
          <p:cNvPicPr preferRelativeResize="0"/>
          <p:nvPr/>
        </p:nvPicPr>
        <p:blipFill rotWithShape="1">
          <a:blip r:embed="rId3">
            <a:alphaModFix amt="70000"/>
          </a:blip>
          <a:srcRect/>
          <a:stretch/>
        </p:blipFill>
        <p:spPr>
          <a:xfrm>
            <a:off x="441107" y="410787"/>
            <a:ext cx="1060188" cy="1008747"/>
          </a:xfrm>
          <a:prstGeom prst="rect">
            <a:avLst/>
          </a:prstGeom>
          <a:noFill/>
          <a:ln>
            <a:noFill/>
          </a:ln>
        </p:spPr>
      </p:pic>
      <p:sp>
        <p:nvSpPr>
          <p:cNvPr id="4" name="Google Shape;93;p15">
            <a:extLst>
              <a:ext uri="{FF2B5EF4-FFF2-40B4-BE49-F238E27FC236}">
                <a16:creationId xmlns:a16="http://schemas.microsoft.com/office/drawing/2014/main" id="{A2FDFD27-9B00-027D-4592-CB52BA6B64AA}"/>
              </a:ext>
            </a:extLst>
          </p:cNvPr>
          <p:cNvSpPr txBox="1"/>
          <p:nvPr/>
        </p:nvSpPr>
        <p:spPr>
          <a:xfrm>
            <a:off x="3179135" y="6277232"/>
            <a:ext cx="6476536" cy="40006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2000" dirty="0">
                <a:solidFill>
                  <a:schemeClr val="bg2">
                    <a:lumMod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sym typeface="Times New Roman"/>
              </a:rPr>
              <a:t>Department of Computer Science and Engineering</a:t>
            </a:r>
            <a:endParaRPr sz="2000" dirty="0">
              <a:solidFill>
                <a:schemeClr val="bg2">
                  <a:lumMod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sym typeface="Arial"/>
            </a:endParaRPr>
          </a:p>
        </p:txBody>
      </p:sp>
      <p:sp>
        <p:nvSpPr>
          <p:cNvPr id="7" name="Title 1">
            <a:extLst>
              <a:ext uri="{FF2B5EF4-FFF2-40B4-BE49-F238E27FC236}">
                <a16:creationId xmlns:a16="http://schemas.microsoft.com/office/drawing/2014/main" id="{0191961A-DFC8-5058-C40A-E2EDF4373D3F}"/>
              </a:ext>
            </a:extLst>
          </p:cNvPr>
          <p:cNvSpPr txBox="1">
            <a:spLocks/>
          </p:cNvSpPr>
          <p:nvPr/>
        </p:nvSpPr>
        <p:spPr>
          <a:xfrm>
            <a:off x="4564744" y="701272"/>
            <a:ext cx="3913632" cy="531868"/>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accent2">
                    <a:lumMod val="25000"/>
                  </a:schemeClr>
                </a:solidFill>
                <a:latin typeface="+mj-lt"/>
                <a:ea typeface="+mj-ea"/>
                <a:cs typeface="+mj-cs"/>
              </a:defRPr>
            </a:lvl1pPr>
          </a:lstStyle>
          <a:p>
            <a:r>
              <a:rPr lang="en-US" dirty="0">
                <a:latin typeface="Sans Serif Collection" panose="020B0502040504020204" pitchFamily="34" charset="0"/>
                <a:ea typeface="Sans Serif Collection" panose="020B0502040504020204" pitchFamily="34" charset="0"/>
                <a:cs typeface="Sans Serif Collection" panose="020B0502040504020204" pitchFamily="34" charset="0"/>
              </a:rPr>
              <a:t>Introduction</a:t>
            </a:r>
          </a:p>
        </p:txBody>
      </p:sp>
      <p:sp>
        <p:nvSpPr>
          <p:cNvPr id="8" name="Rectangle 3">
            <a:extLst>
              <a:ext uri="{FF2B5EF4-FFF2-40B4-BE49-F238E27FC236}">
                <a16:creationId xmlns:a16="http://schemas.microsoft.com/office/drawing/2014/main" id="{B65544F9-9D37-98FA-31FF-FACA9965C7BF}"/>
              </a:ext>
            </a:extLst>
          </p:cNvPr>
          <p:cNvSpPr>
            <a:spLocks noGrp="1" noChangeArrowheads="1"/>
          </p:cNvSpPr>
          <p:nvPr>
            <p:ph idx="1"/>
          </p:nvPr>
        </p:nvSpPr>
        <p:spPr bwMode="auto">
          <a:xfrm>
            <a:off x="1648064" y="1687558"/>
            <a:ext cx="9746992" cy="29007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indent="-342900" fontAlgn="base">
              <a:lnSpc>
                <a:spcPct val="150000"/>
              </a:lnSpc>
              <a:spcAft>
                <a:spcPct val="0"/>
              </a:spcAft>
              <a:buClrTx/>
              <a:buSzTx/>
              <a:buFont typeface="Arial" panose="020B0604020202020204" pitchFamily="34" charset="0"/>
              <a:buChar char="•"/>
              <a:tabLst/>
            </a:pPr>
            <a:r>
              <a:rPr lang="en-US" altLang="en-US" sz="2100" dirty="0">
                <a:latin typeface="Sans Serif Collection" panose="020B0502040504020204" pitchFamily="34" charset="0"/>
                <a:ea typeface="Sans Serif Collection" panose="020B0502040504020204" pitchFamily="34" charset="0"/>
                <a:cs typeface="Sans Serif Collection" panose="020B0502040504020204" pitchFamily="34" charset="0"/>
              </a:rPr>
              <a:t>Introduce interns to real-world AI and NLP development.</a:t>
            </a:r>
          </a:p>
          <a:p>
            <a:pPr marL="342900" marR="0" indent="-342900" fontAlgn="base">
              <a:lnSpc>
                <a:spcPct val="150000"/>
              </a:lnSpc>
              <a:spcAft>
                <a:spcPct val="0"/>
              </a:spcAft>
              <a:buClrTx/>
              <a:buSzTx/>
              <a:buFont typeface="Arial" panose="020B0604020202020204" pitchFamily="34" charset="0"/>
              <a:buChar char="•"/>
              <a:tabLst/>
            </a:pPr>
            <a:r>
              <a:rPr lang="en-US" altLang="en-US" sz="2100" dirty="0">
                <a:latin typeface="Sans Serif Collection" panose="020B0502040504020204" pitchFamily="34" charset="0"/>
                <a:ea typeface="Sans Serif Collection" panose="020B0502040504020204" pitchFamily="34" charset="0"/>
                <a:cs typeface="Sans Serif Collection" panose="020B0502040504020204" pitchFamily="34" charset="0"/>
              </a:rPr>
              <a:t>Teach the end-to-end pipeline of building LLMs for Telugu.</a:t>
            </a:r>
          </a:p>
          <a:p>
            <a:pPr marL="342900" marR="0" indent="-342900" fontAlgn="base">
              <a:lnSpc>
                <a:spcPct val="150000"/>
              </a:lnSpc>
              <a:spcAft>
                <a:spcPct val="0"/>
              </a:spcAft>
              <a:buClrTx/>
              <a:buSzTx/>
              <a:buFont typeface="Arial" panose="020B0604020202020204" pitchFamily="34" charset="0"/>
              <a:buChar char="•"/>
              <a:tabLst/>
            </a:pPr>
            <a:r>
              <a:rPr lang="en-US" altLang="en-US" sz="2100" dirty="0">
                <a:latin typeface="Sans Serif Collection" panose="020B0502040504020204" pitchFamily="34" charset="0"/>
                <a:ea typeface="Sans Serif Collection" panose="020B0502040504020204" pitchFamily="34" charset="0"/>
                <a:cs typeface="Sans Serif Collection" panose="020B0502040504020204" pitchFamily="34" charset="0"/>
              </a:rPr>
              <a:t>Develop practical skills in data handling, preprocessing, and model evaluation.</a:t>
            </a:r>
          </a:p>
          <a:p>
            <a:pPr marL="342900" marR="0" indent="-342900" fontAlgn="base">
              <a:lnSpc>
                <a:spcPct val="150000"/>
              </a:lnSpc>
              <a:spcAft>
                <a:spcPct val="0"/>
              </a:spcAft>
              <a:buClrTx/>
              <a:buSzTx/>
              <a:buFont typeface="Arial" panose="020B0604020202020204" pitchFamily="34" charset="0"/>
              <a:buChar char="•"/>
              <a:tabLst/>
            </a:pPr>
            <a:r>
              <a:rPr lang="en-US" altLang="en-US" sz="2100" dirty="0">
                <a:latin typeface="Sans Serif Collection" panose="020B0502040504020204" pitchFamily="34" charset="0"/>
                <a:ea typeface="Sans Serif Collection" panose="020B0502040504020204" pitchFamily="34" charset="0"/>
                <a:cs typeface="Sans Serif Collection" panose="020B0502040504020204" pitchFamily="34" charset="0"/>
              </a:rPr>
              <a:t>Strengthen problem-solving, technical thinking, and teamwork.</a:t>
            </a:r>
          </a:p>
        </p:txBody>
      </p:sp>
    </p:spTree>
    <p:extLst>
      <p:ext uri="{BB962C8B-B14F-4D97-AF65-F5344CB8AC3E}">
        <p14:creationId xmlns:p14="http://schemas.microsoft.com/office/powerpoint/2010/main" val="1717110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21594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2989945" y="431031"/>
            <a:ext cx="6854915" cy="1008747"/>
          </a:xfrm>
          <a:noFill/>
        </p:spPr>
        <p:txBody>
          <a:bodyPr>
            <a:noAutofit/>
          </a:bodyPr>
          <a:lstStyle/>
          <a:p>
            <a:r>
              <a:rPr lang="en-IN" dirty="0">
                <a:latin typeface="Sans Serif Collection" panose="020B0502040504020204" pitchFamily="34" charset="0"/>
              </a:rPr>
              <a:t>Project / Task Workflow</a:t>
            </a:r>
            <a:endParaRPr lang="en-US" dirty="0">
              <a:latin typeface="Sans Serif Collection" panose="020B0502040504020204" pitchFamily="34" charset="0"/>
            </a:endParaRP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half" idx="1"/>
          </p:nvPr>
        </p:nvSpPr>
        <p:spPr>
          <a:xfrm>
            <a:off x="1180868" y="1745794"/>
            <a:ext cx="10473070" cy="4205176"/>
          </a:xfrm>
          <a:noFill/>
        </p:spPr>
        <p:txBody>
          <a:bodyPr vert="horz" lIns="91440" tIns="45720" rIns="91440" bIns="45720" rtlCol="0" anchor="t">
            <a:noAutofit/>
          </a:bodyPr>
          <a:lstStyle/>
          <a:p>
            <a:pPr marL="342900" indent="-342900" fontAlgn="base">
              <a:lnSpc>
                <a:spcPct val="150000"/>
              </a:lnSpc>
              <a:spcAft>
                <a:spcPct val="0"/>
              </a:spcAft>
              <a:buFont typeface="Arial" panose="020B0604020202020204" pitchFamily="34" charset="0"/>
              <a:buChar char="•"/>
            </a:pPr>
            <a:r>
              <a:rPr lang="en-IN" sz="2100" dirty="0">
                <a:latin typeface="Sans Serif Collection" panose="020B0502040504020204" pitchFamily="34" charset="0"/>
                <a:ea typeface="Sans Serif Collection" panose="020B0502040504020204" pitchFamily="34" charset="0"/>
                <a:cs typeface="Sans Serif Collection" panose="020B0502040504020204" pitchFamily="34" charset="0"/>
              </a:rPr>
              <a:t>Build high-quality Telugu datasets for training Large Language Models.</a:t>
            </a:r>
          </a:p>
          <a:p>
            <a:pPr marL="342900" indent="-342900" fontAlgn="base">
              <a:lnSpc>
                <a:spcPct val="150000"/>
              </a:lnSpc>
              <a:spcAft>
                <a:spcPct val="0"/>
              </a:spcAft>
              <a:buFont typeface="Arial" panose="020B0604020202020204" pitchFamily="34" charset="0"/>
              <a:buChar char="•"/>
            </a:pPr>
            <a:r>
              <a:rPr lang="en-IN" sz="2100" dirty="0">
                <a:latin typeface="Sans Serif Collection" panose="020B0502040504020204" pitchFamily="34" charset="0"/>
                <a:ea typeface="Sans Serif Collection" panose="020B0502040504020204" pitchFamily="34" charset="0"/>
                <a:cs typeface="Sans Serif Collection" panose="020B0502040504020204" pitchFamily="34" charset="0"/>
              </a:rPr>
              <a:t>Collect data from books, websites, conversations, and public sources.</a:t>
            </a:r>
          </a:p>
          <a:p>
            <a:pPr marL="342900" indent="-342900" fontAlgn="base">
              <a:lnSpc>
                <a:spcPct val="150000"/>
              </a:lnSpc>
              <a:spcAft>
                <a:spcPct val="0"/>
              </a:spcAft>
              <a:buFont typeface="Arial" panose="020B0604020202020204" pitchFamily="34" charset="0"/>
              <a:buChar char="•"/>
            </a:pPr>
            <a:r>
              <a:rPr lang="en-IN" sz="2100" dirty="0">
                <a:latin typeface="Sans Serif Collection" panose="020B0502040504020204" pitchFamily="34" charset="0"/>
                <a:ea typeface="Sans Serif Collection" panose="020B0502040504020204" pitchFamily="34" charset="0"/>
                <a:cs typeface="Sans Serif Collection" panose="020B0502040504020204" pitchFamily="34" charset="0"/>
              </a:rPr>
              <a:t>Apply preprocessing, normalization, and dataset organization.</a:t>
            </a:r>
          </a:p>
          <a:p>
            <a:pPr marL="342900" indent="-342900" fontAlgn="base">
              <a:lnSpc>
                <a:spcPct val="150000"/>
              </a:lnSpc>
              <a:spcAft>
                <a:spcPct val="0"/>
              </a:spcAft>
              <a:buFont typeface="Arial" panose="020B0604020202020204" pitchFamily="34" charset="0"/>
              <a:buChar char="•"/>
            </a:pPr>
            <a:r>
              <a:rPr lang="en-IN" sz="2100" dirty="0">
                <a:latin typeface="Sans Serif Collection" panose="020B0502040504020204" pitchFamily="34" charset="0"/>
                <a:ea typeface="Sans Serif Collection" panose="020B0502040504020204" pitchFamily="34" charset="0"/>
                <a:cs typeface="Sans Serif Collection" panose="020B0502040504020204" pitchFamily="34" charset="0"/>
              </a:rPr>
              <a:t>Introduce interns to Python tools, NLP pipelines, and transformer architecture fundamentals.</a:t>
            </a:r>
          </a:p>
        </p:txBody>
      </p:sp>
      <p:sp>
        <p:nvSpPr>
          <p:cNvPr id="21" name="Slide Number Placeholder 20">
            <a:extLst>
              <a:ext uri="{FF2B5EF4-FFF2-40B4-BE49-F238E27FC236}">
                <a16:creationId xmlns:a16="http://schemas.microsoft.com/office/drawing/2014/main" id="{E39E6080-E7F0-678F-65B9-B64B99BDF328}"/>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latin typeface="Sans Serif Collection" panose="020B0502040504020204" pitchFamily="34" charset="0"/>
                <a:ea typeface="Sans Serif Collection" panose="020B0502040504020204" pitchFamily="34" charset="0"/>
                <a:cs typeface="Sans Serif Collection" panose="020B0502040504020204" pitchFamily="34" charset="0"/>
              </a:rPr>
              <a:pPr/>
              <a:t>5</a:t>
            </a:fld>
            <a:endParaRPr lang="en-US"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7" name="Google Shape;92;p15">
            <a:extLst>
              <a:ext uri="{FF2B5EF4-FFF2-40B4-BE49-F238E27FC236}">
                <a16:creationId xmlns:a16="http://schemas.microsoft.com/office/drawing/2014/main" id="{73FD3537-D080-1A93-397E-0AC1F1E32397}"/>
              </a:ext>
            </a:extLst>
          </p:cNvPr>
          <p:cNvPicPr preferRelativeResize="0"/>
          <p:nvPr/>
        </p:nvPicPr>
        <p:blipFill rotWithShape="1">
          <a:blip r:embed="rId2">
            <a:alphaModFix amt="70000"/>
          </a:blip>
          <a:srcRect/>
          <a:stretch/>
        </p:blipFill>
        <p:spPr>
          <a:xfrm>
            <a:off x="441107" y="410787"/>
            <a:ext cx="1060188" cy="1008747"/>
          </a:xfrm>
          <a:prstGeom prst="rect">
            <a:avLst/>
          </a:prstGeom>
          <a:noFill/>
          <a:ln>
            <a:noFill/>
          </a:ln>
        </p:spPr>
      </p:pic>
      <p:sp>
        <p:nvSpPr>
          <p:cNvPr id="5" name="Google Shape;93;p15">
            <a:extLst>
              <a:ext uri="{FF2B5EF4-FFF2-40B4-BE49-F238E27FC236}">
                <a16:creationId xmlns:a16="http://schemas.microsoft.com/office/drawing/2014/main" id="{361C6913-9DBC-5005-4623-98417C37F2CE}"/>
              </a:ext>
            </a:extLst>
          </p:cNvPr>
          <p:cNvSpPr txBox="1"/>
          <p:nvPr/>
        </p:nvSpPr>
        <p:spPr>
          <a:xfrm>
            <a:off x="3179135" y="6277232"/>
            <a:ext cx="6476536" cy="40006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2000" dirty="0">
                <a:solidFill>
                  <a:schemeClr val="bg2">
                    <a:lumMod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sym typeface="Times New Roman"/>
              </a:rPr>
              <a:t>Department of Computer Science and Engineering</a:t>
            </a:r>
            <a:endParaRPr sz="2000" dirty="0">
              <a:solidFill>
                <a:schemeClr val="bg2">
                  <a:lumMod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sym typeface="Arial"/>
            </a:endParaRPr>
          </a:p>
        </p:txBody>
      </p:sp>
    </p:spTree>
    <p:extLst>
      <p:ext uri="{BB962C8B-B14F-4D97-AF65-F5344CB8AC3E}">
        <p14:creationId xmlns:p14="http://schemas.microsoft.com/office/powerpoint/2010/main" val="27372412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xfrm>
            <a:off x="4097901" y="-235530"/>
            <a:ext cx="10277856" cy="1655064"/>
          </a:xfrm>
          <a:noFill/>
        </p:spPr>
        <p:txBody>
          <a:bodyPr>
            <a:noAutofit/>
          </a:bodyPr>
          <a:lstStyle/>
          <a:p>
            <a:r>
              <a:rPr lang="en-IN" dirty="0">
                <a:latin typeface="Sans Serif Collection" panose="020B0502040504020204" pitchFamily="34" charset="0"/>
              </a:rPr>
              <a:t>key Activities</a:t>
            </a:r>
            <a:endParaRPr lang="en-US" dirty="0">
              <a:latin typeface="Sans Serif Collection" panose="020B0502040504020204" pitchFamily="34" charset="0"/>
            </a:endParaRPr>
          </a:p>
        </p:txBody>
      </p:sp>
      <p:sp>
        <p:nvSpPr>
          <p:cNvPr id="8" name="Slide Number Placeholder 7">
            <a:extLst>
              <a:ext uri="{FF2B5EF4-FFF2-40B4-BE49-F238E27FC236}">
                <a16:creationId xmlns:a16="http://schemas.microsoft.com/office/drawing/2014/main" id="{093736AF-0027-E734-82A8-010D7129D046}"/>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latin typeface="Sans Serif Collection" panose="020B0502040504020204" pitchFamily="34" charset="0"/>
                <a:ea typeface="Sans Serif Collection" panose="020B0502040504020204" pitchFamily="34" charset="0"/>
                <a:cs typeface="Sans Serif Collection" panose="020B0502040504020204" pitchFamily="34" charset="0"/>
              </a:rPr>
              <a:pPr/>
              <a:t>6</a:t>
            </a:fld>
            <a:endParaRPr lang="en-US"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5" name="Google Shape;92;p15">
            <a:extLst>
              <a:ext uri="{FF2B5EF4-FFF2-40B4-BE49-F238E27FC236}">
                <a16:creationId xmlns:a16="http://schemas.microsoft.com/office/drawing/2014/main" id="{4B1DAB5D-E36F-CC81-663A-5E64C49C5857}"/>
              </a:ext>
            </a:extLst>
          </p:cNvPr>
          <p:cNvPicPr preferRelativeResize="0"/>
          <p:nvPr/>
        </p:nvPicPr>
        <p:blipFill rotWithShape="1">
          <a:blip r:embed="rId2">
            <a:alphaModFix amt="70000"/>
          </a:blip>
          <a:srcRect/>
          <a:stretch/>
        </p:blipFill>
        <p:spPr>
          <a:xfrm>
            <a:off x="441107" y="410787"/>
            <a:ext cx="1060188" cy="1008747"/>
          </a:xfrm>
          <a:prstGeom prst="rect">
            <a:avLst/>
          </a:prstGeom>
          <a:noFill/>
          <a:ln>
            <a:noFill/>
          </a:ln>
        </p:spPr>
      </p:pic>
      <p:sp>
        <p:nvSpPr>
          <p:cNvPr id="6" name="Google Shape;93;p15">
            <a:extLst>
              <a:ext uri="{FF2B5EF4-FFF2-40B4-BE49-F238E27FC236}">
                <a16:creationId xmlns:a16="http://schemas.microsoft.com/office/drawing/2014/main" id="{9960EF17-56B9-1383-B100-6403976AECE8}"/>
              </a:ext>
            </a:extLst>
          </p:cNvPr>
          <p:cNvSpPr txBox="1"/>
          <p:nvPr/>
        </p:nvSpPr>
        <p:spPr>
          <a:xfrm>
            <a:off x="3179135" y="6277232"/>
            <a:ext cx="6476536" cy="40006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2000" dirty="0">
                <a:solidFill>
                  <a:schemeClr val="bg2">
                    <a:lumMod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sym typeface="Times New Roman"/>
              </a:rPr>
              <a:t>Department of Computer Science and Engineering</a:t>
            </a:r>
            <a:endParaRPr sz="2000" dirty="0">
              <a:solidFill>
                <a:schemeClr val="bg2">
                  <a:lumMod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sym typeface="Arial"/>
            </a:endParaRPr>
          </a:p>
        </p:txBody>
      </p:sp>
      <p:sp>
        <p:nvSpPr>
          <p:cNvPr id="7" name="Rectangle 2">
            <a:extLst>
              <a:ext uri="{FF2B5EF4-FFF2-40B4-BE49-F238E27FC236}">
                <a16:creationId xmlns:a16="http://schemas.microsoft.com/office/drawing/2014/main" id="{806B1834-9770-1D5B-FA8F-F945F6AD473E}"/>
              </a:ext>
            </a:extLst>
          </p:cNvPr>
          <p:cNvSpPr>
            <a:spLocks noGrp="1" noChangeArrowheads="1"/>
          </p:cNvSpPr>
          <p:nvPr>
            <p:ph idx="1"/>
          </p:nvPr>
        </p:nvSpPr>
        <p:spPr bwMode="auto">
          <a:xfrm>
            <a:off x="977301" y="1705303"/>
            <a:ext cx="10880203" cy="3513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fontAlgn="base">
              <a:lnSpc>
                <a:spcPct val="150000"/>
              </a:lnSpc>
              <a:spcAft>
                <a:spcPct val="0"/>
              </a:spcAft>
              <a:buFont typeface="Arial" panose="020B0604020202020204" pitchFamily="34" charset="0"/>
              <a:buChar char="•"/>
            </a:pPr>
            <a:r>
              <a:rPr lang="en-US" altLang="en-US" sz="2100" dirty="0">
                <a:latin typeface="Sans Serif Collection" panose="020B0502040504020204" pitchFamily="34" charset="0"/>
                <a:ea typeface="Sans Serif Collection" panose="020B0502040504020204" pitchFamily="34" charset="0"/>
                <a:cs typeface="Sans Serif Collection" panose="020B0502040504020204" pitchFamily="34" charset="0"/>
              </a:rPr>
              <a:t>Collect, organize, and categorize Telugu text from diverse sources.</a:t>
            </a:r>
          </a:p>
          <a:p>
            <a:pPr marL="342900" lvl="0" indent="-342900" fontAlgn="base">
              <a:lnSpc>
                <a:spcPct val="150000"/>
              </a:lnSpc>
              <a:spcAft>
                <a:spcPct val="0"/>
              </a:spcAft>
              <a:buFont typeface="Arial" panose="020B0604020202020204" pitchFamily="34" charset="0"/>
              <a:buChar char="•"/>
            </a:pPr>
            <a:r>
              <a:rPr lang="en-US" altLang="en-US" sz="2100" dirty="0">
                <a:latin typeface="Sans Serif Collection" panose="020B0502040504020204" pitchFamily="34" charset="0"/>
                <a:ea typeface="Sans Serif Collection" panose="020B0502040504020204" pitchFamily="34" charset="0"/>
                <a:cs typeface="Sans Serif Collection" panose="020B0502040504020204" pitchFamily="34" charset="0"/>
              </a:rPr>
              <a:t>Clean and normalize data: fix errors, remove noise, standardize script usage.</a:t>
            </a:r>
          </a:p>
          <a:p>
            <a:pPr marL="342900" lvl="0" indent="-342900" fontAlgn="base">
              <a:lnSpc>
                <a:spcPct val="150000"/>
              </a:lnSpc>
              <a:spcAft>
                <a:spcPct val="0"/>
              </a:spcAft>
              <a:buFont typeface="Arial" panose="020B0604020202020204" pitchFamily="34" charset="0"/>
              <a:buChar char="•"/>
            </a:pPr>
            <a:r>
              <a:rPr lang="en-US" altLang="en-US" sz="2100" dirty="0">
                <a:latin typeface="Sans Serif Collection" panose="020B0502040504020204" pitchFamily="34" charset="0"/>
                <a:ea typeface="Sans Serif Collection" panose="020B0502040504020204" pitchFamily="34" charset="0"/>
                <a:cs typeface="Sans Serif Collection" panose="020B0502040504020204" pitchFamily="34" charset="0"/>
              </a:rPr>
              <a:t>Assist with tokenization strategies and dataset formatting.</a:t>
            </a:r>
          </a:p>
          <a:p>
            <a:pPr marL="342900" lvl="0" indent="-342900" fontAlgn="base">
              <a:lnSpc>
                <a:spcPct val="150000"/>
              </a:lnSpc>
              <a:spcAft>
                <a:spcPct val="0"/>
              </a:spcAft>
              <a:buFont typeface="Arial" panose="020B0604020202020204" pitchFamily="34" charset="0"/>
              <a:buChar char="•"/>
            </a:pPr>
            <a:r>
              <a:rPr lang="en-US" altLang="en-US" sz="2100" dirty="0">
                <a:latin typeface="Sans Serif Collection" panose="020B0502040504020204" pitchFamily="34" charset="0"/>
                <a:ea typeface="Sans Serif Collection" panose="020B0502040504020204" pitchFamily="34" charset="0"/>
                <a:cs typeface="Sans Serif Collection" panose="020B0502040504020204" pitchFamily="34" charset="0"/>
              </a:rPr>
              <a:t>Maintain documentation, attend weekly review sessions, and present progress.</a:t>
            </a:r>
          </a:p>
          <a:p>
            <a:pPr marL="342900" lvl="0" indent="-342900" fontAlgn="base">
              <a:lnSpc>
                <a:spcPct val="150000"/>
              </a:lnSpc>
              <a:spcAft>
                <a:spcPct val="0"/>
              </a:spcAft>
              <a:buFont typeface="Arial" panose="020B0604020202020204" pitchFamily="34" charset="0"/>
              <a:buChar char="•"/>
            </a:pPr>
            <a:r>
              <a:rPr lang="en-US" altLang="en-US" sz="2100" dirty="0">
                <a:latin typeface="Sans Serif Collection" panose="020B0502040504020204" pitchFamily="34" charset="0"/>
                <a:ea typeface="Sans Serif Collection" panose="020B0502040504020204" pitchFamily="34" charset="0"/>
                <a:cs typeface="Sans Serif Collection" panose="020B0502040504020204" pitchFamily="34" charset="0"/>
              </a:rPr>
              <a:t>Learn basics of training and testing LLMs for tasks like summarization and translation.</a:t>
            </a:r>
          </a:p>
        </p:txBody>
      </p:sp>
    </p:spTree>
    <p:extLst>
      <p:ext uri="{BB962C8B-B14F-4D97-AF65-F5344CB8AC3E}">
        <p14:creationId xmlns:p14="http://schemas.microsoft.com/office/powerpoint/2010/main" val="729609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D38CE31-5438-0B39-AA7A-D0D3E1BFEA74}"/>
              </a:ext>
            </a:extLst>
          </p:cNvPr>
          <p:cNvSpPr>
            <a:spLocks noGrp="1"/>
          </p:cNvSpPr>
          <p:nvPr>
            <p:ph type="sldNum" sz="quarter" idx="12"/>
          </p:nvPr>
        </p:nvSpPr>
        <p:spPr/>
        <p:txBody>
          <a:bodyPr/>
          <a:lstStyle/>
          <a:p>
            <a:fld id="{CBD12358-51D2-46B3-9BDE-DF29528B9454}" type="slidenum">
              <a:rPr lang="en-US" smtClean="0"/>
              <a:t>7</a:t>
            </a:fld>
            <a:endParaRPr lang="en-US" dirty="0"/>
          </a:p>
        </p:txBody>
      </p:sp>
      <p:sp>
        <p:nvSpPr>
          <p:cNvPr id="5" name="Title 1">
            <a:extLst>
              <a:ext uri="{FF2B5EF4-FFF2-40B4-BE49-F238E27FC236}">
                <a16:creationId xmlns:a16="http://schemas.microsoft.com/office/drawing/2014/main" id="{9DE1D882-4164-19C7-5798-22E3C5D5222D}"/>
              </a:ext>
            </a:extLst>
          </p:cNvPr>
          <p:cNvSpPr txBox="1">
            <a:spLocks/>
          </p:cNvSpPr>
          <p:nvPr/>
        </p:nvSpPr>
        <p:spPr>
          <a:xfrm>
            <a:off x="1959129" y="410787"/>
            <a:ext cx="8273742" cy="1008748"/>
          </a:xfrm>
          <a:prstGeom prst="rect">
            <a:avLst/>
          </a:prstGeom>
          <a:noFill/>
        </p:spPr>
        <p:txBody>
          <a:bodyPr vert="horz" lIns="91440" tIns="45720" rIns="91440" bIns="45720" rtlCol="0" anchor="b">
            <a:noAutofit/>
          </a:bodyPr>
          <a:lstStyle>
            <a:lvl1pPr algn="l" defTabSz="914400" rtl="0" eaLnBrk="1" latinLnBrk="0" hangingPunct="1">
              <a:lnSpc>
                <a:spcPct val="90000"/>
              </a:lnSpc>
              <a:spcBef>
                <a:spcPct val="0"/>
              </a:spcBef>
              <a:buNone/>
              <a:defRPr sz="4400" b="1" i="0" kern="1200">
                <a:solidFill>
                  <a:schemeClr val="accent2">
                    <a:lumMod val="25000"/>
                  </a:schemeClr>
                </a:solidFill>
                <a:latin typeface="+mj-lt"/>
                <a:ea typeface="Sans Serif Collection" panose="020B0502040504020204" pitchFamily="34" charset="0"/>
                <a:cs typeface="Sans Serif Collection" panose="020B0502040504020204" pitchFamily="34" charset="0"/>
              </a:defRPr>
            </a:lvl1pPr>
          </a:lstStyle>
          <a:p>
            <a:pPr algn="ctr"/>
            <a:r>
              <a:rPr lang="en-IN" dirty="0">
                <a:latin typeface="Sans Serif Collection" panose="020B0502040504020204" pitchFamily="34" charset="0"/>
              </a:rPr>
              <a:t>Learning Outcomes</a:t>
            </a:r>
            <a:endParaRPr lang="en-US" dirty="0">
              <a:latin typeface="Sans Serif Collection" panose="020B0502040504020204" pitchFamily="34" charset="0"/>
            </a:endParaRPr>
          </a:p>
        </p:txBody>
      </p:sp>
      <p:pic>
        <p:nvPicPr>
          <p:cNvPr id="6" name="Google Shape;92;p15">
            <a:extLst>
              <a:ext uri="{FF2B5EF4-FFF2-40B4-BE49-F238E27FC236}">
                <a16:creationId xmlns:a16="http://schemas.microsoft.com/office/drawing/2014/main" id="{DF982DEC-1411-A570-6D8C-3371400610B0}"/>
              </a:ext>
            </a:extLst>
          </p:cNvPr>
          <p:cNvPicPr preferRelativeResize="0"/>
          <p:nvPr/>
        </p:nvPicPr>
        <p:blipFill rotWithShape="1">
          <a:blip r:embed="rId2">
            <a:alphaModFix amt="70000"/>
          </a:blip>
          <a:srcRect/>
          <a:stretch/>
        </p:blipFill>
        <p:spPr>
          <a:xfrm>
            <a:off x="441107" y="410787"/>
            <a:ext cx="1060188" cy="1008747"/>
          </a:xfrm>
          <a:prstGeom prst="rect">
            <a:avLst/>
          </a:prstGeom>
          <a:noFill/>
          <a:ln>
            <a:noFill/>
          </a:ln>
        </p:spPr>
      </p:pic>
      <p:sp>
        <p:nvSpPr>
          <p:cNvPr id="7" name="Google Shape;93;p15">
            <a:extLst>
              <a:ext uri="{FF2B5EF4-FFF2-40B4-BE49-F238E27FC236}">
                <a16:creationId xmlns:a16="http://schemas.microsoft.com/office/drawing/2014/main" id="{F1807D01-3423-545C-AD8F-B16DC9FC5800}"/>
              </a:ext>
            </a:extLst>
          </p:cNvPr>
          <p:cNvSpPr txBox="1"/>
          <p:nvPr/>
        </p:nvSpPr>
        <p:spPr>
          <a:xfrm>
            <a:off x="3179135" y="6277232"/>
            <a:ext cx="6476536" cy="40006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2000" dirty="0">
                <a:solidFill>
                  <a:schemeClr val="bg2">
                    <a:lumMod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sym typeface="Times New Roman"/>
              </a:rPr>
              <a:t>Department of Computer Science and Engineering</a:t>
            </a:r>
            <a:endParaRPr sz="2000" dirty="0">
              <a:solidFill>
                <a:schemeClr val="bg2">
                  <a:lumMod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sym typeface="Arial"/>
            </a:endParaRPr>
          </a:p>
        </p:txBody>
      </p:sp>
      <p:sp>
        <p:nvSpPr>
          <p:cNvPr id="10" name="Rectangle 4">
            <a:extLst>
              <a:ext uri="{FF2B5EF4-FFF2-40B4-BE49-F238E27FC236}">
                <a16:creationId xmlns:a16="http://schemas.microsoft.com/office/drawing/2014/main" id="{31229D7C-76F3-BF17-2541-BA47386984CA}"/>
              </a:ext>
            </a:extLst>
          </p:cNvPr>
          <p:cNvSpPr>
            <a:spLocks noGrp="1" noChangeArrowheads="1"/>
          </p:cNvSpPr>
          <p:nvPr>
            <p:ph sz="half" idx="1"/>
          </p:nvPr>
        </p:nvSpPr>
        <p:spPr bwMode="auto">
          <a:xfrm>
            <a:off x="925354" y="2027413"/>
            <a:ext cx="10984097" cy="2416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fontAlgn="base">
              <a:lnSpc>
                <a:spcPct val="150000"/>
              </a:lnSpc>
              <a:spcAft>
                <a:spcPct val="0"/>
              </a:spcAft>
              <a:buClrTx/>
              <a:buSzTx/>
              <a:buFont typeface="Arial" panose="020B0604020202020204" pitchFamily="34" charset="0"/>
              <a:buChar char="•"/>
              <a:tabLst/>
            </a:pPr>
            <a:r>
              <a:rPr lang="en-US" altLang="en-US" sz="2100" dirty="0">
                <a:latin typeface="Sans Serif Collection" panose="020B0502040504020204" pitchFamily="34" charset="0"/>
                <a:ea typeface="Sans Serif Collection" panose="020B0502040504020204" pitchFamily="34" charset="0"/>
                <a:cs typeface="Sans Serif Collection" panose="020B0502040504020204" pitchFamily="34" charset="0"/>
              </a:rPr>
              <a:t>Hands-on experience with NLP data pipelines and corpus creation.</a:t>
            </a:r>
          </a:p>
          <a:p>
            <a:pPr marL="342900" marR="0" lvl="0" indent="-342900" fontAlgn="base">
              <a:lnSpc>
                <a:spcPct val="150000"/>
              </a:lnSpc>
              <a:spcAft>
                <a:spcPct val="0"/>
              </a:spcAft>
              <a:buClrTx/>
              <a:buSzTx/>
              <a:buFont typeface="Arial" panose="020B0604020202020204" pitchFamily="34" charset="0"/>
              <a:buChar char="•"/>
              <a:tabLst/>
            </a:pPr>
            <a:r>
              <a:rPr lang="en-US" altLang="en-US" sz="2100" dirty="0">
                <a:latin typeface="Sans Serif Collection" panose="020B0502040504020204" pitchFamily="34" charset="0"/>
                <a:ea typeface="Sans Serif Collection" panose="020B0502040504020204" pitchFamily="34" charset="0"/>
                <a:cs typeface="Sans Serif Collection" panose="020B0502040504020204" pitchFamily="34" charset="0"/>
              </a:rPr>
              <a:t>Understanding of how LLMs are trained, fine-tuned, and evaluated.</a:t>
            </a:r>
          </a:p>
          <a:p>
            <a:pPr marL="342900" marR="0" lvl="0" indent="-342900" fontAlgn="base">
              <a:lnSpc>
                <a:spcPct val="150000"/>
              </a:lnSpc>
              <a:spcAft>
                <a:spcPct val="0"/>
              </a:spcAft>
              <a:buClrTx/>
              <a:buSzTx/>
              <a:buFont typeface="Arial" panose="020B0604020202020204" pitchFamily="34" charset="0"/>
              <a:buChar char="•"/>
              <a:tabLst/>
            </a:pPr>
            <a:r>
              <a:rPr lang="en-US" altLang="en-US" sz="2100" dirty="0">
                <a:latin typeface="Sans Serif Collection" panose="020B0502040504020204" pitchFamily="34" charset="0"/>
                <a:ea typeface="Sans Serif Collection" panose="020B0502040504020204" pitchFamily="34" charset="0"/>
                <a:cs typeface="Sans Serif Collection" panose="020B0502040504020204" pitchFamily="34" charset="0"/>
              </a:rPr>
              <a:t>Improved proficiency in Python, text processing, and dataset structuring.</a:t>
            </a:r>
          </a:p>
          <a:p>
            <a:pPr marL="342900" marR="0" lvl="0" indent="-342900" fontAlgn="base">
              <a:lnSpc>
                <a:spcPct val="150000"/>
              </a:lnSpc>
              <a:spcAft>
                <a:spcPct val="0"/>
              </a:spcAft>
              <a:buClrTx/>
              <a:buSzTx/>
              <a:buFont typeface="Arial" panose="020B0604020202020204" pitchFamily="34" charset="0"/>
              <a:buChar char="•"/>
              <a:tabLst/>
            </a:pPr>
            <a:r>
              <a:rPr lang="en-US" altLang="en-US" sz="2100" dirty="0">
                <a:latin typeface="Sans Serif Collection" panose="020B0502040504020204" pitchFamily="34" charset="0"/>
                <a:ea typeface="Sans Serif Collection" panose="020B0502040504020204" pitchFamily="34" charset="0"/>
                <a:cs typeface="Sans Serif Collection" panose="020B0502040504020204" pitchFamily="34" charset="0"/>
              </a:rPr>
              <a:t>Enhanced skills in teamwork, communication, version control, and documentation.</a:t>
            </a:r>
          </a:p>
        </p:txBody>
      </p:sp>
    </p:spTree>
    <p:extLst>
      <p:ext uri="{BB962C8B-B14F-4D97-AF65-F5344CB8AC3E}">
        <p14:creationId xmlns:p14="http://schemas.microsoft.com/office/powerpoint/2010/main" val="2917955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13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30A76-B788-B363-104E-266B7C7F7208}"/>
              </a:ext>
            </a:extLst>
          </p:cNvPr>
          <p:cNvSpPr>
            <a:spLocks noGrp="1"/>
          </p:cNvSpPr>
          <p:nvPr>
            <p:ph type="title"/>
          </p:nvPr>
        </p:nvSpPr>
        <p:spPr>
          <a:xfrm>
            <a:off x="1501295" y="498258"/>
            <a:ext cx="10487082" cy="845926"/>
          </a:xfrm>
          <a:noFill/>
        </p:spPr>
        <p:txBody>
          <a:bodyPr anchor="b">
            <a:noAutofit/>
          </a:bodyPr>
          <a:lstStyle/>
          <a:p>
            <a:r>
              <a:rPr lang="en-IN" dirty="0">
                <a:latin typeface="Sans Serif Collection" panose="020B0502040504020204" pitchFamily="34" charset="0"/>
              </a:rPr>
              <a:t>Technical Stack &amp; Integrated Partners</a:t>
            </a:r>
            <a:endParaRPr lang="en-US" dirty="0">
              <a:latin typeface="Sans Serif Collection" panose="020B0502040504020204" pitchFamily="34" charset="0"/>
            </a:endParaRPr>
          </a:p>
        </p:txBody>
      </p:sp>
      <p:sp>
        <p:nvSpPr>
          <p:cNvPr id="14" name="Slide Number Placeholder 13">
            <a:extLst>
              <a:ext uri="{FF2B5EF4-FFF2-40B4-BE49-F238E27FC236}">
                <a16:creationId xmlns:a16="http://schemas.microsoft.com/office/drawing/2014/main" id="{3F21905C-1BD6-BF3F-5B8B-B9AD53017014}"/>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8</a:t>
            </a:fld>
            <a:endParaRPr lang="en-US" dirty="0"/>
          </a:p>
        </p:txBody>
      </p:sp>
      <p:sp>
        <p:nvSpPr>
          <p:cNvPr id="3" name="Google Shape;93;p15">
            <a:extLst>
              <a:ext uri="{FF2B5EF4-FFF2-40B4-BE49-F238E27FC236}">
                <a16:creationId xmlns:a16="http://schemas.microsoft.com/office/drawing/2014/main" id="{693B6C98-2745-F71F-0A90-FD09DD3B83F7}"/>
              </a:ext>
            </a:extLst>
          </p:cNvPr>
          <p:cNvSpPr txBox="1"/>
          <p:nvPr/>
        </p:nvSpPr>
        <p:spPr>
          <a:xfrm>
            <a:off x="3179135" y="6277232"/>
            <a:ext cx="6476536" cy="40006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2000" dirty="0">
                <a:solidFill>
                  <a:schemeClr val="bg2">
                    <a:lumMod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sym typeface="Times New Roman"/>
              </a:rPr>
              <a:t>Department of Computer Science and Engineering</a:t>
            </a:r>
            <a:endParaRPr sz="2000" dirty="0">
              <a:solidFill>
                <a:schemeClr val="bg2">
                  <a:lumMod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sym typeface="Arial"/>
            </a:endParaRPr>
          </a:p>
        </p:txBody>
      </p:sp>
      <p:pic>
        <p:nvPicPr>
          <p:cNvPr id="4" name="Google Shape;92;p15">
            <a:extLst>
              <a:ext uri="{FF2B5EF4-FFF2-40B4-BE49-F238E27FC236}">
                <a16:creationId xmlns:a16="http://schemas.microsoft.com/office/drawing/2014/main" id="{86E0879E-96EC-C070-6CEB-78F8BD8A5E01}"/>
              </a:ext>
            </a:extLst>
          </p:cNvPr>
          <p:cNvPicPr preferRelativeResize="0"/>
          <p:nvPr/>
        </p:nvPicPr>
        <p:blipFill rotWithShape="1">
          <a:blip r:embed="rId2">
            <a:alphaModFix amt="70000"/>
          </a:blip>
          <a:srcRect/>
          <a:stretch/>
        </p:blipFill>
        <p:spPr>
          <a:xfrm>
            <a:off x="441107" y="410787"/>
            <a:ext cx="1060188" cy="1008747"/>
          </a:xfrm>
          <a:prstGeom prst="rect">
            <a:avLst/>
          </a:prstGeom>
          <a:noFill/>
          <a:ln>
            <a:noFill/>
          </a:ln>
        </p:spPr>
      </p:pic>
      <p:sp>
        <p:nvSpPr>
          <p:cNvPr id="8" name="Rectangle 3">
            <a:extLst>
              <a:ext uri="{FF2B5EF4-FFF2-40B4-BE49-F238E27FC236}">
                <a16:creationId xmlns:a16="http://schemas.microsoft.com/office/drawing/2014/main" id="{D7A8B240-97C2-E051-5D27-934064D230C7}"/>
              </a:ext>
            </a:extLst>
          </p:cNvPr>
          <p:cNvSpPr>
            <a:spLocks noGrp="1" noChangeArrowheads="1"/>
          </p:cNvSpPr>
          <p:nvPr>
            <p:ph idx="1"/>
          </p:nvPr>
        </p:nvSpPr>
        <p:spPr bwMode="auto">
          <a:xfrm>
            <a:off x="1342663" y="1705303"/>
            <a:ext cx="9965803" cy="3029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fontAlgn="base">
              <a:lnSpc>
                <a:spcPct val="150000"/>
              </a:lnSpc>
              <a:spcAft>
                <a:spcPct val="0"/>
              </a:spcAft>
              <a:buFont typeface="Arial" panose="020B0604020202020204" pitchFamily="34" charset="0"/>
              <a:buChar char="•"/>
            </a:pPr>
            <a:r>
              <a:rPr lang="en-US" altLang="en-US" sz="2100" dirty="0">
                <a:latin typeface="Sans Serif Collection" panose="020B0502040504020204" pitchFamily="34" charset="0"/>
                <a:ea typeface="Sans Serif Collection" panose="020B0502040504020204" pitchFamily="34" charset="0"/>
                <a:cs typeface="Sans Serif Collection" panose="020B0502040504020204" pitchFamily="34" charset="0"/>
              </a:rPr>
              <a:t>Used Python, Jupyter, Pandas, and regex-based text cleaning.</a:t>
            </a:r>
          </a:p>
          <a:p>
            <a:pPr marL="342900" indent="-342900" fontAlgn="base">
              <a:lnSpc>
                <a:spcPct val="150000"/>
              </a:lnSpc>
              <a:spcAft>
                <a:spcPct val="0"/>
              </a:spcAft>
              <a:buFont typeface="Arial" panose="020B0604020202020204" pitchFamily="34" charset="0"/>
              <a:buChar char="•"/>
            </a:pPr>
            <a:r>
              <a:rPr lang="en-US" altLang="en-US" sz="2100" dirty="0">
                <a:latin typeface="Sans Serif Collection" panose="020B0502040504020204" pitchFamily="34" charset="0"/>
                <a:ea typeface="Sans Serif Collection" panose="020B0502040504020204" pitchFamily="34" charset="0"/>
                <a:cs typeface="Sans Serif Collection" panose="020B0502040504020204" pitchFamily="34" charset="0"/>
              </a:rPr>
              <a:t>Used PyTorch, Hugging Face Transformers, and CUDA for model training.</a:t>
            </a:r>
          </a:p>
          <a:p>
            <a:pPr marL="342900" indent="-342900" fontAlgn="base">
              <a:lnSpc>
                <a:spcPct val="150000"/>
              </a:lnSpc>
              <a:spcAft>
                <a:spcPct val="0"/>
              </a:spcAft>
              <a:buFont typeface="Arial" panose="020B0604020202020204" pitchFamily="34" charset="0"/>
              <a:buChar char="•"/>
            </a:pPr>
            <a:r>
              <a:rPr lang="en-US" altLang="en-US" sz="2100" dirty="0">
                <a:latin typeface="Sans Serif Collection" panose="020B0502040504020204" pitchFamily="34" charset="0"/>
                <a:ea typeface="Sans Serif Collection" panose="020B0502040504020204" pitchFamily="34" charset="0"/>
                <a:cs typeface="Sans Serif Collection" panose="020B0502040504020204" pitchFamily="34" charset="0"/>
              </a:rPr>
              <a:t>Managed workflows using Git/GitHub and Google Docs for documentation.</a:t>
            </a:r>
          </a:p>
          <a:p>
            <a:pPr marL="342900" indent="-342900" fontAlgn="base">
              <a:lnSpc>
                <a:spcPct val="150000"/>
              </a:lnSpc>
              <a:spcAft>
                <a:spcPct val="0"/>
              </a:spcAft>
              <a:buFont typeface="Arial" panose="020B0604020202020204" pitchFamily="34" charset="0"/>
              <a:buChar char="•"/>
            </a:pPr>
            <a:r>
              <a:rPr lang="en-US" altLang="en-US" sz="2100" dirty="0">
                <a:latin typeface="Sans Serif Collection" panose="020B0502040504020204" pitchFamily="34" charset="0"/>
                <a:ea typeface="Sans Serif Collection" panose="020B0502040504020204" pitchFamily="34" charset="0"/>
                <a:cs typeface="Sans Serif Collection" panose="020B0502040504020204" pitchFamily="34" charset="0"/>
              </a:rPr>
              <a:t>Integrated partners: Meta, IIIT Hyderabad, and Swecha Telangana.</a:t>
            </a:r>
          </a:p>
          <a:p>
            <a:pPr marL="342900" indent="-342900" fontAlgn="base">
              <a:lnSpc>
                <a:spcPct val="150000"/>
              </a:lnSpc>
              <a:spcAft>
                <a:spcPct val="0"/>
              </a:spcAft>
              <a:buFont typeface="Arial" panose="020B0604020202020204" pitchFamily="34" charset="0"/>
              <a:buChar char="•"/>
            </a:pPr>
            <a:r>
              <a:rPr lang="en-US" altLang="en-US" sz="2100" dirty="0">
                <a:latin typeface="Sans Serif Collection" panose="020B0502040504020204" pitchFamily="34" charset="0"/>
                <a:ea typeface="Sans Serif Collection" panose="020B0502040504020204" pitchFamily="34" charset="0"/>
                <a:cs typeface="Sans Serif Collection" panose="020B0502040504020204" pitchFamily="34" charset="0"/>
              </a:rPr>
              <a:t>Collaborated on open-source Telugu NLP and LLM development.</a:t>
            </a:r>
          </a:p>
        </p:txBody>
      </p:sp>
    </p:spTree>
    <p:extLst>
      <p:ext uri="{BB962C8B-B14F-4D97-AF65-F5344CB8AC3E}">
        <p14:creationId xmlns:p14="http://schemas.microsoft.com/office/powerpoint/2010/main" val="6437779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C59F6-9B22-C211-4B4C-A2FD4B914C46}"/>
              </a:ext>
            </a:extLst>
          </p:cNvPr>
          <p:cNvSpPr>
            <a:spLocks noGrp="1"/>
          </p:cNvSpPr>
          <p:nvPr>
            <p:ph type="title"/>
          </p:nvPr>
        </p:nvSpPr>
        <p:spPr>
          <a:xfrm>
            <a:off x="3931282" y="-212380"/>
            <a:ext cx="4972242" cy="1540764"/>
          </a:xfrm>
          <a:noFill/>
        </p:spPr>
        <p:txBody>
          <a:bodyPr>
            <a:noAutofit/>
          </a:bodyPr>
          <a:lstStyle/>
          <a:p>
            <a:r>
              <a:rPr lang="en-US" dirty="0">
                <a:latin typeface="Sans Serif Collection" panose="020B0502040504020204" pitchFamily="34" charset="0"/>
              </a:rPr>
              <a:t>Week Work Log</a:t>
            </a:r>
          </a:p>
        </p:txBody>
      </p:sp>
      <p:sp>
        <p:nvSpPr>
          <p:cNvPr id="3" name="Slide Number Placeholder 2">
            <a:extLst>
              <a:ext uri="{FF2B5EF4-FFF2-40B4-BE49-F238E27FC236}">
                <a16:creationId xmlns:a16="http://schemas.microsoft.com/office/drawing/2014/main" id="{CAEAF320-61B9-87FA-4DF5-7C3B0DC125A6}"/>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latin typeface="Sans Serif Collection" panose="020B0502040504020204" pitchFamily="34" charset="0"/>
                <a:ea typeface="Sans Serif Collection" panose="020B0502040504020204" pitchFamily="34" charset="0"/>
                <a:cs typeface="Sans Serif Collection" panose="020B0502040504020204" pitchFamily="34" charset="0"/>
              </a:rPr>
              <a:pPr/>
              <a:t>9</a:t>
            </a:fld>
            <a:endParaRPr lang="en-US"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1" name="Google Shape;93;p15">
            <a:extLst>
              <a:ext uri="{FF2B5EF4-FFF2-40B4-BE49-F238E27FC236}">
                <a16:creationId xmlns:a16="http://schemas.microsoft.com/office/drawing/2014/main" id="{E755B0D9-56ED-4736-2776-13E512A723C5}"/>
              </a:ext>
            </a:extLst>
          </p:cNvPr>
          <p:cNvSpPr txBox="1"/>
          <p:nvPr/>
        </p:nvSpPr>
        <p:spPr>
          <a:xfrm>
            <a:off x="3179135" y="6277232"/>
            <a:ext cx="6476536" cy="40006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2000" dirty="0">
                <a:solidFill>
                  <a:schemeClr val="bg2">
                    <a:lumMod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sym typeface="Times New Roman"/>
              </a:rPr>
              <a:t>Department of Computer Science and Engineering</a:t>
            </a:r>
            <a:endParaRPr sz="2000" dirty="0">
              <a:solidFill>
                <a:schemeClr val="bg2">
                  <a:lumMod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sym typeface="Arial"/>
            </a:endParaRPr>
          </a:p>
        </p:txBody>
      </p:sp>
      <p:pic>
        <p:nvPicPr>
          <p:cNvPr id="14" name="Google Shape;92;p15">
            <a:extLst>
              <a:ext uri="{FF2B5EF4-FFF2-40B4-BE49-F238E27FC236}">
                <a16:creationId xmlns:a16="http://schemas.microsoft.com/office/drawing/2014/main" id="{8D5DA780-6F11-CE56-0EB8-27860A3098C9}"/>
              </a:ext>
            </a:extLst>
          </p:cNvPr>
          <p:cNvPicPr preferRelativeResize="0"/>
          <p:nvPr/>
        </p:nvPicPr>
        <p:blipFill rotWithShape="1">
          <a:blip r:embed="rId2">
            <a:alphaModFix amt="70000"/>
          </a:blip>
          <a:srcRect/>
          <a:stretch/>
        </p:blipFill>
        <p:spPr>
          <a:xfrm>
            <a:off x="441107" y="410787"/>
            <a:ext cx="1060188" cy="1008747"/>
          </a:xfrm>
          <a:prstGeom prst="rect">
            <a:avLst/>
          </a:prstGeom>
          <a:noFill/>
          <a:ln>
            <a:noFill/>
          </a:ln>
        </p:spPr>
      </p:pic>
      <p:graphicFrame>
        <p:nvGraphicFramePr>
          <p:cNvPr id="6" name="Table 5">
            <a:extLst>
              <a:ext uri="{FF2B5EF4-FFF2-40B4-BE49-F238E27FC236}">
                <a16:creationId xmlns:a16="http://schemas.microsoft.com/office/drawing/2014/main" id="{9FCF710D-F064-67C4-C37F-4BE1B8DF5C7A}"/>
              </a:ext>
            </a:extLst>
          </p:cNvPr>
          <p:cNvGraphicFramePr>
            <a:graphicFrameLocks noGrp="1"/>
          </p:cNvGraphicFramePr>
          <p:nvPr>
            <p:extLst>
              <p:ext uri="{D42A27DB-BD31-4B8C-83A1-F6EECF244321}">
                <p14:modId xmlns:p14="http://schemas.microsoft.com/office/powerpoint/2010/main" val="2147937538"/>
              </p:ext>
            </p:extLst>
          </p:nvPr>
        </p:nvGraphicFramePr>
        <p:xfrm>
          <a:off x="1987431" y="1209372"/>
          <a:ext cx="8501617" cy="4774835"/>
        </p:xfrm>
        <a:graphic>
          <a:graphicData uri="http://schemas.openxmlformats.org/drawingml/2006/table">
            <a:tbl>
              <a:tblPr>
                <a:tableStyleId>{5940675A-B579-460E-94D1-54222C63F5DA}</a:tableStyleId>
              </a:tblPr>
              <a:tblGrid>
                <a:gridCol w="1063773">
                  <a:extLst>
                    <a:ext uri="{9D8B030D-6E8A-4147-A177-3AD203B41FA5}">
                      <a16:colId xmlns:a16="http://schemas.microsoft.com/office/drawing/2014/main" val="555571275"/>
                    </a:ext>
                  </a:extLst>
                </a:gridCol>
                <a:gridCol w="7437844">
                  <a:extLst>
                    <a:ext uri="{9D8B030D-6E8A-4147-A177-3AD203B41FA5}">
                      <a16:colId xmlns:a16="http://schemas.microsoft.com/office/drawing/2014/main" val="2664569483"/>
                    </a:ext>
                  </a:extLst>
                </a:gridCol>
              </a:tblGrid>
              <a:tr h="362764">
                <a:tc>
                  <a:txBody>
                    <a:bodyPr/>
                    <a:lstStyle/>
                    <a:p>
                      <a:pPr marL="0" indent="0" algn="just" defTabSz="914400" rtl="0" eaLnBrk="1" latinLnBrk="0" hangingPunct="1">
                        <a:lnSpc>
                          <a:spcPct val="150000"/>
                        </a:lnSpc>
                        <a:spcBef>
                          <a:spcPts val="1000"/>
                        </a:spcBef>
                        <a:buFont typeface="Arial" panose="020B0604020202020204" pitchFamily="34" charset="0"/>
                        <a:buNone/>
                      </a:pPr>
                      <a:r>
                        <a:rPr lang="en-IN" sz="2400" b="1" i="0" kern="1200" dirty="0">
                          <a:solidFill>
                            <a:schemeClr val="accent2">
                              <a:lumMod val="25000"/>
                            </a:schemeClr>
                          </a:solidFill>
                          <a:latin typeface="+mn-lt"/>
                          <a:ea typeface="+mn-ea"/>
                          <a:cs typeface="+mn-cs"/>
                        </a:rPr>
                        <a:t>Week</a:t>
                      </a:r>
                    </a:p>
                  </a:txBody>
                  <a:tcPr anchor="ctr"/>
                </a:tc>
                <a:tc>
                  <a:txBody>
                    <a:bodyPr/>
                    <a:lstStyle/>
                    <a:p>
                      <a:pPr marL="0" indent="0" algn="just" defTabSz="914400" rtl="0" eaLnBrk="1" latinLnBrk="0" hangingPunct="1">
                        <a:lnSpc>
                          <a:spcPct val="150000"/>
                        </a:lnSpc>
                        <a:spcBef>
                          <a:spcPts val="1000"/>
                        </a:spcBef>
                        <a:buFont typeface="Arial" panose="020B0604020202020204" pitchFamily="34" charset="0"/>
                        <a:buNone/>
                      </a:pPr>
                      <a:r>
                        <a:rPr lang="en-IN" sz="2000" b="1" i="0" kern="1200" dirty="0">
                          <a:solidFill>
                            <a:schemeClr val="accent2">
                              <a:lumMod val="25000"/>
                            </a:schemeClr>
                          </a:solidFill>
                          <a:latin typeface="+mn-lt"/>
                          <a:ea typeface="+mn-ea"/>
                          <a:cs typeface="+mn-cs"/>
                        </a:rPr>
                        <a:t>Tasks Performed</a:t>
                      </a:r>
                    </a:p>
                  </a:txBody>
                  <a:tcPr anchor="ctr"/>
                </a:tc>
                <a:extLst>
                  <a:ext uri="{0D108BD9-81ED-4DB2-BD59-A6C34878D82A}">
                    <a16:rowId xmlns:a16="http://schemas.microsoft.com/office/drawing/2014/main" val="1791999296"/>
                  </a:ext>
                </a:extLst>
              </a:tr>
              <a:tr h="552976">
                <a:tc>
                  <a:txBody>
                    <a:bodyPr/>
                    <a:lstStyle/>
                    <a:p>
                      <a:pPr marL="0" indent="0" algn="just" defTabSz="914400" rtl="0" eaLnBrk="1" latinLnBrk="0" hangingPunct="1">
                        <a:lnSpc>
                          <a:spcPct val="150000"/>
                        </a:lnSpc>
                        <a:spcBef>
                          <a:spcPts val="1000"/>
                        </a:spcBef>
                        <a:buFont typeface="Arial" panose="020B0604020202020204" pitchFamily="34" charset="0"/>
                        <a:buNone/>
                      </a:pPr>
                      <a:r>
                        <a:rPr lang="en-IN" sz="2000" b="0" i="0" kern="1200">
                          <a:solidFill>
                            <a:schemeClr val="accent2">
                              <a:lumMod val="25000"/>
                            </a:schemeClr>
                          </a:solidFill>
                          <a:latin typeface="+mn-lt"/>
                          <a:ea typeface="+mn-ea"/>
                          <a:cs typeface="+mn-cs"/>
                        </a:rPr>
                        <a:t>Week 1</a:t>
                      </a:r>
                    </a:p>
                  </a:txBody>
                  <a:tcPr anchor="ctr"/>
                </a:tc>
                <a:tc>
                  <a:txBody>
                    <a:bodyPr/>
                    <a:lstStyle/>
                    <a:p>
                      <a:pPr marL="0" indent="0" algn="just" defTabSz="914400" rtl="0" eaLnBrk="1" latinLnBrk="0" hangingPunct="1">
                        <a:lnSpc>
                          <a:spcPct val="150000"/>
                        </a:lnSpc>
                        <a:spcBef>
                          <a:spcPts val="1000"/>
                        </a:spcBef>
                        <a:buFont typeface="Arial" panose="020B0604020202020204" pitchFamily="34" charset="0"/>
                        <a:buNone/>
                      </a:pPr>
                      <a:r>
                        <a:rPr lang="en-US" sz="2000" b="0" i="0" kern="1200" dirty="0">
                          <a:solidFill>
                            <a:schemeClr val="accent2">
                              <a:lumMod val="25000"/>
                            </a:schemeClr>
                          </a:solidFill>
                          <a:latin typeface="+mn-lt"/>
                          <a:ea typeface="+mn-ea"/>
                          <a:cs typeface="+mn-cs"/>
                        </a:rPr>
                        <a:t>Project intro, tool setup, found Telugu data sources.</a:t>
                      </a:r>
                    </a:p>
                  </a:txBody>
                  <a:tcPr anchor="ctr"/>
                </a:tc>
                <a:extLst>
                  <a:ext uri="{0D108BD9-81ED-4DB2-BD59-A6C34878D82A}">
                    <a16:rowId xmlns:a16="http://schemas.microsoft.com/office/drawing/2014/main" val="4055161971"/>
                  </a:ext>
                </a:extLst>
              </a:tr>
              <a:tr h="509286">
                <a:tc>
                  <a:txBody>
                    <a:bodyPr/>
                    <a:lstStyle/>
                    <a:p>
                      <a:pPr marL="0" indent="0" algn="just" defTabSz="914400" rtl="0" eaLnBrk="1" latinLnBrk="0" hangingPunct="1">
                        <a:lnSpc>
                          <a:spcPct val="150000"/>
                        </a:lnSpc>
                        <a:spcBef>
                          <a:spcPts val="1000"/>
                        </a:spcBef>
                        <a:buFont typeface="Arial" panose="020B0604020202020204" pitchFamily="34" charset="0"/>
                        <a:buNone/>
                      </a:pPr>
                      <a:r>
                        <a:rPr lang="en-IN" sz="2000" b="0" i="0" kern="1200">
                          <a:solidFill>
                            <a:schemeClr val="accent2">
                              <a:lumMod val="25000"/>
                            </a:schemeClr>
                          </a:solidFill>
                          <a:latin typeface="+mn-lt"/>
                          <a:ea typeface="+mn-ea"/>
                          <a:cs typeface="+mn-cs"/>
                        </a:rPr>
                        <a:t>Week 2</a:t>
                      </a:r>
                    </a:p>
                  </a:txBody>
                  <a:tcPr anchor="ctr"/>
                </a:tc>
                <a:tc>
                  <a:txBody>
                    <a:bodyPr/>
                    <a:lstStyle/>
                    <a:p>
                      <a:pPr marL="0" indent="0" algn="just" defTabSz="914400" rtl="0" eaLnBrk="1" latinLnBrk="0" hangingPunct="1">
                        <a:lnSpc>
                          <a:spcPct val="150000"/>
                        </a:lnSpc>
                        <a:spcBef>
                          <a:spcPts val="1000"/>
                        </a:spcBef>
                        <a:buFont typeface="Arial" panose="020B0604020202020204" pitchFamily="34" charset="0"/>
                        <a:buNone/>
                      </a:pPr>
                      <a:r>
                        <a:rPr lang="en-US" sz="2000" b="0" i="0" kern="1200" dirty="0">
                          <a:solidFill>
                            <a:schemeClr val="accent2">
                              <a:lumMod val="25000"/>
                            </a:schemeClr>
                          </a:solidFill>
                          <a:latin typeface="+mn-lt"/>
                          <a:ea typeface="+mn-ea"/>
                          <a:cs typeface="+mn-cs"/>
                        </a:rPr>
                        <a:t>Collected Telugu text and did basic cleaning.</a:t>
                      </a:r>
                    </a:p>
                  </a:txBody>
                  <a:tcPr anchor="ctr"/>
                </a:tc>
                <a:extLst>
                  <a:ext uri="{0D108BD9-81ED-4DB2-BD59-A6C34878D82A}">
                    <a16:rowId xmlns:a16="http://schemas.microsoft.com/office/drawing/2014/main" val="2180742288"/>
                  </a:ext>
                </a:extLst>
              </a:tr>
              <a:tr h="546812">
                <a:tc>
                  <a:txBody>
                    <a:bodyPr/>
                    <a:lstStyle/>
                    <a:p>
                      <a:pPr marL="0" indent="0" algn="just" defTabSz="914400" rtl="0" eaLnBrk="1" latinLnBrk="0" hangingPunct="1">
                        <a:lnSpc>
                          <a:spcPct val="150000"/>
                        </a:lnSpc>
                        <a:spcBef>
                          <a:spcPts val="1000"/>
                        </a:spcBef>
                        <a:buFont typeface="Arial" panose="020B0604020202020204" pitchFamily="34" charset="0"/>
                        <a:buNone/>
                      </a:pPr>
                      <a:r>
                        <a:rPr lang="en-IN" sz="2000" b="0" i="0" kern="1200">
                          <a:solidFill>
                            <a:schemeClr val="accent2">
                              <a:lumMod val="25000"/>
                            </a:schemeClr>
                          </a:solidFill>
                          <a:latin typeface="+mn-lt"/>
                          <a:ea typeface="+mn-ea"/>
                          <a:cs typeface="+mn-cs"/>
                        </a:rPr>
                        <a:t>Week 3</a:t>
                      </a:r>
                    </a:p>
                  </a:txBody>
                  <a:tcPr anchor="ctr"/>
                </a:tc>
                <a:tc>
                  <a:txBody>
                    <a:bodyPr/>
                    <a:lstStyle/>
                    <a:p>
                      <a:pPr marL="0" indent="0" algn="just" defTabSz="914400" rtl="0" eaLnBrk="1" latinLnBrk="0" hangingPunct="1">
                        <a:lnSpc>
                          <a:spcPct val="150000"/>
                        </a:lnSpc>
                        <a:spcBef>
                          <a:spcPts val="1000"/>
                        </a:spcBef>
                        <a:buFont typeface="Arial" panose="020B0604020202020204" pitchFamily="34" charset="0"/>
                        <a:buNone/>
                      </a:pPr>
                      <a:r>
                        <a:rPr lang="en-US" sz="2000" b="0" i="0" kern="1200" dirty="0">
                          <a:solidFill>
                            <a:schemeClr val="accent2">
                              <a:lumMod val="25000"/>
                            </a:schemeClr>
                          </a:solidFill>
                          <a:latin typeface="+mn-lt"/>
                          <a:ea typeface="+mn-ea"/>
                          <a:cs typeface="+mn-cs"/>
                        </a:rPr>
                        <a:t>Did deeper cleaning, fixed Unicode, split sentences.</a:t>
                      </a:r>
                    </a:p>
                  </a:txBody>
                  <a:tcPr anchor="ctr"/>
                </a:tc>
                <a:extLst>
                  <a:ext uri="{0D108BD9-81ED-4DB2-BD59-A6C34878D82A}">
                    <a16:rowId xmlns:a16="http://schemas.microsoft.com/office/drawing/2014/main" val="3900541363"/>
                  </a:ext>
                </a:extLst>
              </a:tr>
              <a:tr h="501897">
                <a:tc>
                  <a:txBody>
                    <a:bodyPr/>
                    <a:lstStyle/>
                    <a:p>
                      <a:pPr marL="0" indent="0" algn="just" defTabSz="914400" rtl="0" eaLnBrk="1" latinLnBrk="0" hangingPunct="1">
                        <a:lnSpc>
                          <a:spcPct val="150000"/>
                        </a:lnSpc>
                        <a:spcBef>
                          <a:spcPts val="1000"/>
                        </a:spcBef>
                        <a:buFont typeface="Arial" panose="020B0604020202020204" pitchFamily="34" charset="0"/>
                        <a:buNone/>
                      </a:pPr>
                      <a:r>
                        <a:rPr lang="en-IN" sz="2000" b="0" i="0" kern="1200">
                          <a:solidFill>
                            <a:schemeClr val="accent2">
                              <a:lumMod val="25000"/>
                            </a:schemeClr>
                          </a:solidFill>
                          <a:latin typeface="+mn-lt"/>
                          <a:ea typeface="+mn-ea"/>
                          <a:cs typeface="+mn-cs"/>
                        </a:rPr>
                        <a:t>Week 4</a:t>
                      </a:r>
                    </a:p>
                  </a:txBody>
                  <a:tcPr anchor="ctr"/>
                </a:tc>
                <a:tc>
                  <a:txBody>
                    <a:bodyPr/>
                    <a:lstStyle/>
                    <a:p>
                      <a:pPr marL="0" indent="0" algn="just" defTabSz="914400" rtl="0" eaLnBrk="1" latinLnBrk="0" hangingPunct="1">
                        <a:lnSpc>
                          <a:spcPct val="150000"/>
                        </a:lnSpc>
                        <a:spcBef>
                          <a:spcPts val="1000"/>
                        </a:spcBef>
                        <a:buFont typeface="Arial" panose="020B0604020202020204" pitchFamily="34" charset="0"/>
                        <a:buNone/>
                      </a:pPr>
                      <a:r>
                        <a:rPr lang="en-US" sz="2000" b="0" i="0" kern="1200">
                          <a:solidFill>
                            <a:schemeClr val="accent2">
                              <a:lumMod val="25000"/>
                            </a:schemeClr>
                          </a:solidFill>
                          <a:latin typeface="+mn-lt"/>
                          <a:ea typeface="+mn-ea"/>
                          <a:cs typeface="+mn-cs"/>
                        </a:rPr>
                        <a:t>Organized data, tried tokenizers, checked data quality.</a:t>
                      </a:r>
                    </a:p>
                  </a:txBody>
                  <a:tcPr anchor="ctr"/>
                </a:tc>
                <a:extLst>
                  <a:ext uri="{0D108BD9-81ED-4DB2-BD59-A6C34878D82A}">
                    <a16:rowId xmlns:a16="http://schemas.microsoft.com/office/drawing/2014/main" val="3803602001"/>
                  </a:ext>
                </a:extLst>
              </a:tr>
              <a:tr h="501897">
                <a:tc>
                  <a:txBody>
                    <a:bodyPr/>
                    <a:lstStyle/>
                    <a:p>
                      <a:pPr marL="0" indent="0" algn="just" defTabSz="914400" rtl="0" eaLnBrk="1" latinLnBrk="0" hangingPunct="1">
                        <a:lnSpc>
                          <a:spcPct val="150000"/>
                        </a:lnSpc>
                        <a:spcBef>
                          <a:spcPts val="1000"/>
                        </a:spcBef>
                        <a:buFont typeface="Arial" panose="020B0604020202020204" pitchFamily="34" charset="0"/>
                        <a:buNone/>
                      </a:pPr>
                      <a:r>
                        <a:rPr lang="en-IN" sz="2000" b="0" i="0" kern="1200">
                          <a:solidFill>
                            <a:schemeClr val="accent2">
                              <a:lumMod val="25000"/>
                            </a:schemeClr>
                          </a:solidFill>
                          <a:latin typeface="+mn-lt"/>
                          <a:ea typeface="+mn-ea"/>
                          <a:cs typeface="+mn-cs"/>
                        </a:rPr>
                        <a:t>Week 5</a:t>
                      </a:r>
                    </a:p>
                  </a:txBody>
                  <a:tcPr anchor="ctr"/>
                </a:tc>
                <a:tc>
                  <a:txBody>
                    <a:bodyPr/>
                    <a:lstStyle/>
                    <a:p>
                      <a:pPr marL="0" indent="0" algn="just" defTabSz="914400" rtl="0" eaLnBrk="1" latinLnBrk="0" hangingPunct="1">
                        <a:lnSpc>
                          <a:spcPct val="150000"/>
                        </a:lnSpc>
                        <a:spcBef>
                          <a:spcPts val="1000"/>
                        </a:spcBef>
                        <a:buFont typeface="Arial" panose="020B0604020202020204" pitchFamily="34" charset="0"/>
                        <a:buNone/>
                      </a:pPr>
                      <a:r>
                        <a:rPr lang="en-US" sz="2000" b="0" i="0" kern="1200">
                          <a:solidFill>
                            <a:schemeClr val="accent2">
                              <a:lumMod val="25000"/>
                            </a:schemeClr>
                          </a:solidFill>
                          <a:latin typeface="+mn-lt"/>
                          <a:ea typeface="+mn-ea"/>
                          <a:cs typeface="+mn-cs"/>
                        </a:rPr>
                        <a:t>Made simple scripts to speed up cleaning work.</a:t>
                      </a:r>
                    </a:p>
                  </a:txBody>
                  <a:tcPr anchor="ctr"/>
                </a:tc>
                <a:extLst>
                  <a:ext uri="{0D108BD9-81ED-4DB2-BD59-A6C34878D82A}">
                    <a16:rowId xmlns:a16="http://schemas.microsoft.com/office/drawing/2014/main" val="658597962"/>
                  </a:ext>
                </a:extLst>
              </a:tr>
              <a:tr h="501897">
                <a:tc>
                  <a:txBody>
                    <a:bodyPr/>
                    <a:lstStyle/>
                    <a:p>
                      <a:pPr marL="0" indent="0" algn="just" defTabSz="914400" rtl="0" eaLnBrk="1" latinLnBrk="0" hangingPunct="1">
                        <a:lnSpc>
                          <a:spcPct val="150000"/>
                        </a:lnSpc>
                        <a:spcBef>
                          <a:spcPts val="1000"/>
                        </a:spcBef>
                        <a:buFont typeface="Arial" panose="020B0604020202020204" pitchFamily="34" charset="0"/>
                        <a:buNone/>
                      </a:pPr>
                      <a:r>
                        <a:rPr lang="en-IN" sz="2000" b="0" i="0" kern="1200">
                          <a:solidFill>
                            <a:schemeClr val="accent2">
                              <a:lumMod val="25000"/>
                            </a:schemeClr>
                          </a:solidFill>
                          <a:latin typeface="+mn-lt"/>
                          <a:ea typeface="+mn-ea"/>
                          <a:cs typeface="+mn-cs"/>
                        </a:rPr>
                        <a:t>Week 6</a:t>
                      </a:r>
                    </a:p>
                  </a:txBody>
                  <a:tcPr anchor="ctr"/>
                </a:tc>
                <a:tc>
                  <a:txBody>
                    <a:bodyPr/>
                    <a:lstStyle/>
                    <a:p>
                      <a:pPr marL="0" indent="0" algn="just" defTabSz="914400" rtl="0" eaLnBrk="1" latinLnBrk="0" hangingPunct="1">
                        <a:lnSpc>
                          <a:spcPct val="150000"/>
                        </a:lnSpc>
                        <a:spcBef>
                          <a:spcPts val="1000"/>
                        </a:spcBef>
                        <a:buFont typeface="Arial" panose="020B0604020202020204" pitchFamily="34" charset="0"/>
                        <a:buNone/>
                      </a:pPr>
                      <a:r>
                        <a:rPr lang="en-US" sz="2000" b="0" i="0" kern="1200">
                          <a:solidFill>
                            <a:schemeClr val="accent2">
                              <a:lumMod val="25000"/>
                            </a:schemeClr>
                          </a:solidFill>
                          <a:latin typeface="+mn-lt"/>
                          <a:ea typeface="+mn-ea"/>
                          <a:cs typeface="+mn-cs"/>
                        </a:rPr>
                        <a:t>Finished dataset and prepared it for training.</a:t>
                      </a:r>
                    </a:p>
                  </a:txBody>
                  <a:tcPr anchor="ctr"/>
                </a:tc>
                <a:extLst>
                  <a:ext uri="{0D108BD9-81ED-4DB2-BD59-A6C34878D82A}">
                    <a16:rowId xmlns:a16="http://schemas.microsoft.com/office/drawing/2014/main" val="1119489027"/>
                  </a:ext>
                </a:extLst>
              </a:tr>
              <a:tr h="523050">
                <a:tc>
                  <a:txBody>
                    <a:bodyPr/>
                    <a:lstStyle/>
                    <a:p>
                      <a:pPr marL="0" indent="0" algn="just" defTabSz="914400" rtl="0" eaLnBrk="1" latinLnBrk="0" hangingPunct="1">
                        <a:lnSpc>
                          <a:spcPct val="150000"/>
                        </a:lnSpc>
                        <a:spcBef>
                          <a:spcPts val="1000"/>
                        </a:spcBef>
                        <a:buFont typeface="Arial" panose="020B0604020202020204" pitchFamily="34" charset="0"/>
                        <a:buNone/>
                      </a:pPr>
                      <a:r>
                        <a:rPr lang="en-IN" sz="2000" b="0" i="0" kern="1200">
                          <a:solidFill>
                            <a:schemeClr val="accent2">
                              <a:lumMod val="25000"/>
                            </a:schemeClr>
                          </a:solidFill>
                          <a:latin typeface="+mn-lt"/>
                          <a:ea typeface="+mn-ea"/>
                          <a:cs typeface="+mn-cs"/>
                        </a:rPr>
                        <a:t>Week 7</a:t>
                      </a:r>
                    </a:p>
                  </a:txBody>
                  <a:tcPr anchor="ctr"/>
                </a:tc>
                <a:tc>
                  <a:txBody>
                    <a:bodyPr/>
                    <a:lstStyle/>
                    <a:p>
                      <a:pPr marL="0" indent="0" algn="just" defTabSz="914400" rtl="0" eaLnBrk="1" latinLnBrk="0" hangingPunct="1">
                        <a:lnSpc>
                          <a:spcPct val="150000"/>
                        </a:lnSpc>
                        <a:spcBef>
                          <a:spcPts val="1000"/>
                        </a:spcBef>
                        <a:buFont typeface="Arial" panose="020B0604020202020204" pitchFamily="34" charset="0"/>
                        <a:buNone/>
                      </a:pPr>
                      <a:r>
                        <a:rPr lang="en-US" sz="2000" b="0" i="0" kern="1200">
                          <a:solidFill>
                            <a:schemeClr val="accent2">
                              <a:lumMod val="25000"/>
                            </a:schemeClr>
                          </a:solidFill>
                          <a:latin typeface="+mn-lt"/>
                          <a:ea typeface="+mn-ea"/>
                          <a:cs typeface="+mn-cs"/>
                        </a:rPr>
                        <a:t>Helped test sample model outputs and fixed data issues.</a:t>
                      </a:r>
                    </a:p>
                  </a:txBody>
                  <a:tcPr anchor="ctr"/>
                </a:tc>
                <a:extLst>
                  <a:ext uri="{0D108BD9-81ED-4DB2-BD59-A6C34878D82A}">
                    <a16:rowId xmlns:a16="http://schemas.microsoft.com/office/drawing/2014/main" val="2557144042"/>
                  </a:ext>
                </a:extLst>
              </a:tr>
              <a:tr h="541305">
                <a:tc>
                  <a:txBody>
                    <a:bodyPr/>
                    <a:lstStyle/>
                    <a:p>
                      <a:pPr marL="0" indent="0" algn="just" defTabSz="914400" rtl="0" eaLnBrk="1" latinLnBrk="0" hangingPunct="1">
                        <a:lnSpc>
                          <a:spcPct val="150000"/>
                        </a:lnSpc>
                        <a:spcBef>
                          <a:spcPts val="1000"/>
                        </a:spcBef>
                        <a:buFont typeface="Arial" panose="020B0604020202020204" pitchFamily="34" charset="0"/>
                        <a:buNone/>
                      </a:pPr>
                      <a:r>
                        <a:rPr lang="en-IN" sz="2000" b="0" i="0" kern="1200">
                          <a:solidFill>
                            <a:schemeClr val="accent2">
                              <a:lumMod val="25000"/>
                            </a:schemeClr>
                          </a:solidFill>
                          <a:latin typeface="+mn-lt"/>
                          <a:ea typeface="+mn-ea"/>
                          <a:cs typeface="+mn-cs"/>
                        </a:rPr>
                        <a:t>Week 8</a:t>
                      </a:r>
                    </a:p>
                  </a:txBody>
                  <a:tcPr anchor="ctr"/>
                </a:tc>
                <a:tc>
                  <a:txBody>
                    <a:bodyPr/>
                    <a:lstStyle/>
                    <a:p>
                      <a:pPr marL="0" indent="0" algn="just" defTabSz="914400" rtl="0" eaLnBrk="1" latinLnBrk="0" hangingPunct="1">
                        <a:lnSpc>
                          <a:spcPct val="150000"/>
                        </a:lnSpc>
                        <a:spcBef>
                          <a:spcPts val="1000"/>
                        </a:spcBef>
                        <a:buFont typeface="Arial" panose="020B0604020202020204" pitchFamily="34" charset="0"/>
                        <a:buNone/>
                      </a:pPr>
                      <a:r>
                        <a:rPr lang="en-US" sz="2000" b="0" i="0" kern="1200" dirty="0">
                          <a:solidFill>
                            <a:schemeClr val="accent2">
                              <a:lumMod val="25000"/>
                            </a:schemeClr>
                          </a:solidFill>
                          <a:latin typeface="+mn-lt"/>
                          <a:ea typeface="+mn-ea"/>
                          <a:cs typeface="+mn-cs"/>
                        </a:rPr>
                        <a:t>Final review, completed report, and prepared presentation.</a:t>
                      </a:r>
                    </a:p>
                  </a:txBody>
                  <a:tcPr anchor="ctr"/>
                </a:tc>
                <a:extLst>
                  <a:ext uri="{0D108BD9-81ED-4DB2-BD59-A6C34878D82A}">
                    <a16:rowId xmlns:a16="http://schemas.microsoft.com/office/drawing/2014/main" val="4279509880"/>
                  </a:ext>
                </a:extLst>
              </a:tr>
            </a:tbl>
          </a:graphicData>
        </a:graphic>
      </p:graphicFrame>
    </p:spTree>
    <p:extLst>
      <p:ext uri="{BB962C8B-B14F-4D97-AF65-F5344CB8AC3E}">
        <p14:creationId xmlns:p14="http://schemas.microsoft.com/office/powerpoint/2010/main" val="3604630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16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AC361-0D7A-DC05-86B5-6DD77D322F5B}"/>
              </a:ext>
            </a:extLst>
          </p:cNvPr>
          <p:cNvSpPr>
            <a:spLocks noGrp="1"/>
          </p:cNvSpPr>
          <p:nvPr>
            <p:ph type="title"/>
          </p:nvPr>
        </p:nvSpPr>
        <p:spPr>
          <a:xfrm>
            <a:off x="4128136" y="427249"/>
            <a:ext cx="4578533" cy="928314"/>
          </a:xfrm>
          <a:noFill/>
        </p:spPr>
        <p:txBody>
          <a:bodyPr>
            <a:noAutofit/>
          </a:bodyPr>
          <a:lstStyle/>
          <a:p>
            <a:r>
              <a:rPr lang="en-IN" dirty="0">
                <a:latin typeface="Sans Serif Collection" panose="020B0502040504020204" pitchFamily="34" charset="0"/>
              </a:rPr>
              <a:t>Conclusion </a:t>
            </a:r>
            <a:endParaRPr lang="en-US" dirty="0">
              <a:latin typeface="Sans Serif Collection" panose="020B0502040504020204" pitchFamily="34" charset="0"/>
            </a:endParaRPr>
          </a:p>
        </p:txBody>
      </p:sp>
      <p:sp>
        <p:nvSpPr>
          <p:cNvPr id="3" name="Content Placeholder 2">
            <a:extLst>
              <a:ext uri="{FF2B5EF4-FFF2-40B4-BE49-F238E27FC236}">
                <a16:creationId xmlns:a16="http://schemas.microsoft.com/office/drawing/2014/main" id="{1BE98EFF-197D-3136-70B9-7BBD30A48931}"/>
              </a:ext>
            </a:extLst>
          </p:cNvPr>
          <p:cNvSpPr>
            <a:spLocks noGrp="1"/>
          </p:cNvSpPr>
          <p:nvPr>
            <p:ph idx="1"/>
          </p:nvPr>
        </p:nvSpPr>
        <p:spPr>
          <a:xfrm>
            <a:off x="971107" y="1590881"/>
            <a:ext cx="10249786" cy="4042955"/>
          </a:xfrm>
          <a:noFill/>
        </p:spPr>
        <p:txBody>
          <a:bodyPr vert="horz" lIns="91440" tIns="45720" rIns="91440" bIns="45720" rtlCol="0" anchor="t">
            <a:noAutofit/>
          </a:bodyPr>
          <a:lstStyle/>
          <a:p>
            <a:pPr algn="just">
              <a:lnSpc>
                <a:spcPct val="150000"/>
              </a:lnSpc>
            </a:pPr>
            <a:r>
              <a:rPr lang="en-US" sz="2400" dirty="0"/>
              <a:t>This 8-week project gave us valuable exposure to AI workflows and contributed toward developing better Telugu language resources. Their efforts improved dataset quality and deepened their understanding of machine learning, preparing them for careers in AI, research, and software development.</a:t>
            </a:r>
            <a:endParaRPr lang="en-IN" sz="21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3" name="Slide Number Placeholder 12">
            <a:extLst>
              <a:ext uri="{FF2B5EF4-FFF2-40B4-BE49-F238E27FC236}">
                <a16:creationId xmlns:a16="http://schemas.microsoft.com/office/drawing/2014/main" id="{9F61F934-8535-E086-C153-D48E49B98B6A}"/>
              </a:ext>
            </a:extLst>
          </p:cNvPr>
          <p:cNvSpPr>
            <a:spLocks noGrp="1"/>
          </p:cNvSpPr>
          <p:nvPr>
            <p:ph type="sldNum" sz="quarter" idx="12"/>
          </p:nvPr>
        </p:nvSpPr>
        <p:spPr>
          <a:xfrm>
            <a:off x="9596564" y="6563001"/>
            <a:ext cx="2522548" cy="228600"/>
          </a:xfrm>
        </p:spPr>
        <p:txBody>
          <a:bodyPr/>
          <a:lstStyle/>
          <a:p>
            <a:fld id="{CBD12358-51D2-46B3-9BDE-DF29528B9454}" type="slidenum">
              <a:rPr lang="en-US" smtClean="0">
                <a:latin typeface="Sans Serif Collection" panose="020B0502040504020204" pitchFamily="34" charset="0"/>
                <a:ea typeface="Sans Serif Collection" panose="020B0502040504020204" pitchFamily="34" charset="0"/>
                <a:cs typeface="Sans Serif Collection" panose="020B0502040504020204" pitchFamily="34" charset="0"/>
              </a:rPr>
              <a:pPr/>
              <a:t>10</a:t>
            </a:fld>
            <a:endParaRPr lang="en-US"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 name="Google Shape;93;p15">
            <a:extLst>
              <a:ext uri="{FF2B5EF4-FFF2-40B4-BE49-F238E27FC236}">
                <a16:creationId xmlns:a16="http://schemas.microsoft.com/office/drawing/2014/main" id="{07A439D1-025D-1248-7E98-A0C4AFAEA787}"/>
              </a:ext>
            </a:extLst>
          </p:cNvPr>
          <p:cNvSpPr txBox="1"/>
          <p:nvPr/>
        </p:nvSpPr>
        <p:spPr>
          <a:xfrm>
            <a:off x="3179135" y="6277232"/>
            <a:ext cx="6476536" cy="40006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2000" dirty="0">
                <a:solidFill>
                  <a:schemeClr val="bg2">
                    <a:lumMod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sym typeface="Times New Roman"/>
              </a:rPr>
              <a:t>Department of Computer Science and Engineering</a:t>
            </a:r>
            <a:endParaRPr sz="2000" dirty="0">
              <a:solidFill>
                <a:schemeClr val="bg2">
                  <a:lumMod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sym typeface="Arial"/>
            </a:endParaRPr>
          </a:p>
        </p:txBody>
      </p:sp>
      <p:pic>
        <p:nvPicPr>
          <p:cNvPr id="7" name="Google Shape;92;p15">
            <a:extLst>
              <a:ext uri="{FF2B5EF4-FFF2-40B4-BE49-F238E27FC236}">
                <a16:creationId xmlns:a16="http://schemas.microsoft.com/office/drawing/2014/main" id="{BFDC5236-3783-3E12-84A4-5E75FC8F01AD}"/>
              </a:ext>
            </a:extLst>
          </p:cNvPr>
          <p:cNvPicPr preferRelativeResize="0"/>
          <p:nvPr/>
        </p:nvPicPr>
        <p:blipFill rotWithShape="1">
          <a:blip r:embed="rId2">
            <a:alphaModFix amt="70000"/>
          </a:blip>
          <a:srcRect/>
          <a:stretch/>
        </p:blipFill>
        <p:spPr>
          <a:xfrm>
            <a:off x="441107" y="410787"/>
            <a:ext cx="1060188" cy="1008747"/>
          </a:xfrm>
          <a:prstGeom prst="rect">
            <a:avLst/>
          </a:prstGeom>
          <a:noFill/>
          <a:ln>
            <a:noFill/>
          </a:ln>
        </p:spPr>
      </p:pic>
    </p:spTree>
    <p:extLst>
      <p:ext uri="{BB962C8B-B14F-4D97-AF65-F5344CB8AC3E}">
        <p14:creationId xmlns:p14="http://schemas.microsoft.com/office/powerpoint/2010/main" val="12108021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372C7AD-0D62-BDB7-4630-2EC295B8DF8F}"/>
              </a:ext>
            </a:extLst>
          </p:cNvPr>
          <p:cNvSpPr>
            <a:spLocks noGrp="1"/>
          </p:cNvSpPr>
          <p:nvPr>
            <p:ph type="sldNum" sz="quarter" idx="12"/>
          </p:nvPr>
        </p:nvSpPr>
        <p:spPr/>
        <p:txBody>
          <a:bodyPr/>
          <a:lstStyle/>
          <a:p>
            <a:fld id="{CBD12358-51D2-46B3-9BDE-DF29528B9454}" type="slidenum">
              <a:rPr lang="en-US" smtClean="0"/>
              <a:t>11</a:t>
            </a:fld>
            <a:endParaRPr lang="en-US" dirty="0"/>
          </a:p>
        </p:txBody>
      </p:sp>
      <p:pic>
        <p:nvPicPr>
          <p:cNvPr id="9" name="Picture 8">
            <a:extLst>
              <a:ext uri="{FF2B5EF4-FFF2-40B4-BE49-F238E27FC236}">
                <a16:creationId xmlns:a16="http://schemas.microsoft.com/office/drawing/2014/main" id="{2BA3ABF7-3FC6-A0DB-A676-F87CFD8D96A1}"/>
              </a:ext>
            </a:extLst>
          </p:cNvPr>
          <p:cNvPicPr>
            <a:picLocks noChangeAspect="1"/>
          </p:cNvPicPr>
          <p:nvPr/>
        </p:nvPicPr>
        <p:blipFill>
          <a:blip r:embed="rId2"/>
          <a:stretch>
            <a:fillRect/>
          </a:stretch>
        </p:blipFill>
        <p:spPr>
          <a:xfrm>
            <a:off x="1737645" y="348312"/>
            <a:ext cx="8716709" cy="6161376"/>
          </a:xfrm>
          <a:prstGeom prst="rect">
            <a:avLst/>
          </a:prstGeom>
        </p:spPr>
      </p:pic>
    </p:spTree>
    <p:extLst>
      <p:ext uri="{BB962C8B-B14F-4D97-AF65-F5344CB8AC3E}">
        <p14:creationId xmlns:p14="http://schemas.microsoft.com/office/powerpoint/2010/main" val="8163883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2A0D7AA-8A21-B977-56ED-94406F29957C}"/>
              </a:ext>
            </a:extLst>
          </p:cNvPr>
          <p:cNvSpPr>
            <a:spLocks noGrp="1"/>
          </p:cNvSpPr>
          <p:nvPr>
            <p:ph type="ctrTitle"/>
          </p:nvPr>
        </p:nvSpPr>
        <p:spPr>
          <a:xfrm>
            <a:off x="3585060" y="2924626"/>
            <a:ext cx="5830470" cy="1008747"/>
          </a:xfrm>
          <a:noFill/>
        </p:spPr>
        <p:txBody>
          <a:bodyPr anchor="b">
            <a:noAutofit/>
          </a:bodyPr>
          <a:lstStyle/>
          <a:p>
            <a:r>
              <a:rPr lang="en-US" sz="8000" dirty="0"/>
              <a:t>Thank you</a:t>
            </a:r>
          </a:p>
        </p:txBody>
      </p:sp>
      <p:sp>
        <p:nvSpPr>
          <p:cNvPr id="2" name="Google Shape;93;p15">
            <a:extLst>
              <a:ext uri="{FF2B5EF4-FFF2-40B4-BE49-F238E27FC236}">
                <a16:creationId xmlns:a16="http://schemas.microsoft.com/office/drawing/2014/main" id="{9CFC9C45-E71C-6D81-C171-E35F70499025}"/>
              </a:ext>
            </a:extLst>
          </p:cNvPr>
          <p:cNvSpPr txBox="1"/>
          <p:nvPr/>
        </p:nvSpPr>
        <p:spPr>
          <a:xfrm>
            <a:off x="3179135" y="6277232"/>
            <a:ext cx="6476536" cy="40006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2000" dirty="0">
                <a:solidFill>
                  <a:schemeClr val="bg2">
                    <a:lumMod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sym typeface="Times New Roman"/>
              </a:rPr>
              <a:t>Department of Computer Science and Engineering</a:t>
            </a:r>
            <a:endParaRPr sz="2000" dirty="0">
              <a:solidFill>
                <a:schemeClr val="bg2">
                  <a:lumMod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sym typeface="Arial"/>
            </a:endParaRPr>
          </a:p>
        </p:txBody>
      </p:sp>
      <p:pic>
        <p:nvPicPr>
          <p:cNvPr id="4" name="Picture 3">
            <a:extLst>
              <a:ext uri="{FF2B5EF4-FFF2-40B4-BE49-F238E27FC236}">
                <a16:creationId xmlns:a16="http://schemas.microsoft.com/office/drawing/2014/main" id="{92FDD2CC-1F23-C90A-35AD-7BD493AACE1B}"/>
              </a:ext>
            </a:extLst>
          </p:cNvPr>
          <p:cNvPicPr>
            <a:picLocks noChangeAspect="1"/>
          </p:cNvPicPr>
          <p:nvPr/>
        </p:nvPicPr>
        <p:blipFill>
          <a:blip r:embed="rId2"/>
          <a:stretch>
            <a:fillRect/>
          </a:stretch>
        </p:blipFill>
        <p:spPr>
          <a:xfrm>
            <a:off x="0" y="0"/>
            <a:ext cx="12192000" cy="133402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751616652"/>
      </p:ext>
    </p:extLst>
  </p:cSld>
  <p:clrMapOvr>
    <a:masterClrMapping/>
  </p:clrMapOvr>
</p:sld>
</file>

<file path=ppt/theme/theme1.xml><?xml version="1.0" encoding="utf-8"?>
<a:theme xmlns:a="http://schemas.openxmlformats.org/drawingml/2006/main" name="Custom">
  <a:themeElements>
    <a:clrScheme name="Blue spheres">
      <a:dk1>
        <a:srgbClr val="000000"/>
      </a:dk1>
      <a:lt1>
        <a:srgbClr val="FFFFFF"/>
      </a:lt1>
      <a:dk2>
        <a:srgbClr val="E3E7ED"/>
      </a:dk2>
      <a:lt2>
        <a:srgbClr val="E8E8E8"/>
      </a:lt2>
      <a:accent1>
        <a:srgbClr val="7673F7"/>
      </a:accent1>
      <a:accent2>
        <a:srgbClr val="B8C2FD"/>
      </a:accent2>
      <a:accent3>
        <a:srgbClr val="DFE3FC"/>
      </a:accent3>
      <a:accent4>
        <a:srgbClr val="55B3FD"/>
      </a:accent4>
      <a:accent5>
        <a:srgbClr val="99F7F7"/>
      </a:accent5>
      <a:accent6>
        <a:srgbClr val="FEE43F"/>
      </a:accent6>
      <a:hlink>
        <a:srgbClr val="467886"/>
      </a:hlink>
      <a:folHlink>
        <a:srgbClr val="96607D"/>
      </a:folHlink>
    </a:clrScheme>
    <a:fontScheme name="Custom 23">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34076243_win32_CP_V3" id="{81AB0711-29F9-49D0-8A73-16AF25FD4C08}" vid="{D5AD44AB-53B9-4654-A4F8-1821A28F277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9" ma:contentTypeDescription="Create a new document." ma:contentTypeScope="" ma:versionID="6a914531ae0f23be31da2eba1f3b42a9">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ae00154c9e66547f022c4923f88826d6"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EA9B47F-3DD8-4645-81DC-B88780643C07}">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B0C07E3D-60A7-4F4E-8208-D9CCD01982CB}">
  <ds:schemaRefs>
    <ds:schemaRef ds:uri="http://schemas.microsoft.com/sharepoint/v3/contenttype/forms"/>
  </ds:schemaRefs>
</ds:datastoreItem>
</file>

<file path=customXml/itemProps3.xml><?xml version="1.0" encoding="utf-8"?>
<ds:datastoreItem xmlns:ds="http://schemas.openxmlformats.org/officeDocument/2006/customXml" ds:itemID="{D9F7D870-58E6-48A2-A932-190ED7A8A1D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22750</TotalTime>
  <Words>754</Words>
  <Application>Microsoft Office PowerPoint</Application>
  <PresentationFormat>Widescreen</PresentationFormat>
  <Paragraphs>93</Paragraphs>
  <Slides>12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Arial</vt:lpstr>
      <vt:lpstr>Calibri</vt:lpstr>
      <vt:lpstr>Sans Serif Collection</vt:lpstr>
      <vt:lpstr>Times New Roman</vt:lpstr>
      <vt:lpstr>Custom</vt:lpstr>
      <vt:lpstr>PowerPoint Presentation</vt:lpstr>
      <vt:lpstr>Abstract</vt:lpstr>
      <vt:lpstr>PowerPoint Presentation</vt:lpstr>
      <vt:lpstr>PowerPoint Presentation</vt:lpstr>
      <vt:lpstr>Project / Task Workflow</vt:lpstr>
      <vt:lpstr>key Activities</vt:lpstr>
      <vt:lpstr>PowerPoint Presentation</vt:lpstr>
      <vt:lpstr>Technical Stack &amp; Integrated Partners</vt:lpstr>
      <vt:lpstr>Week Work Log</vt:lpstr>
      <vt:lpstr>Conclusion </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Madavaram Yethishwar</dc:creator>
  <cp:lastModifiedBy>Madavaram Yethishwar</cp:lastModifiedBy>
  <cp:revision>12</cp:revision>
  <dcterms:created xsi:type="dcterms:W3CDTF">2023-08-29T05:38:01Z</dcterms:created>
  <dcterms:modified xsi:type="dcterms:W3CDTF">2025-12-03T02:36:14Z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