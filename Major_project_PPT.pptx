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7" r:id="rId6"/>
    <p:sldId id="261" r:id="rId7"/>
    <p:sldId id="299" r:id="rId8"/>
    <p:sldId id="263" r:id="rId9"/>
    <p:sldId id="265" r:id="rId10"/>
    <p:sldId id="300" r:id="rId11"/>
    <p:sldId id="280" r:id="rId12"/>
    <p:sldId id="267" r:id="rId13"/>
    <p:sldId id="262" r:id="rId14"/>
    <p:sldId id="301" r:id="rId15"/>
    <p:sldId id="302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7"/>
    <a:srgbClr val="2C567A"/>
    <a:srgbClr val="0D1D51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87887" autoAdjust="0"/>
  </p:normalViewPr>
  <p:slideViewPr>
    <p:cSldViewPr snapToGrid="0" showGuides="1">
      <p:cViewPr varScale="1">
        <p:scale>
          <a:sx n="72" d="100"/>
          <a:sy n="72" d="100"/>
        </p:scale>
        <p:origin x="101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12/1/2025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9780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0504-3B2F-D010-7C17-D032A903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7D761-717D-E496-DD16-A3A55A235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55FAD-EC70-E222-B79C-71DD5A26E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9D70D-92A2-7054-C560-E7B515054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21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C2497AB5-3CBB-0D3E-9D9E-453E8E5A252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532858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FFB741D-F06D-EA69-BFF9-65A028154276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4982-F19A-24F3-C39A-719B26660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9DA29-EE54-522B-3D50-E054D58DD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5F271-B130-F4E9-BCB0-0578B22E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3992-D0ED-4535-9CD0-25D9D6E600C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7A5B-94C3-8759-AF3B-AF375C61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50B4B-3656-FA8D-69D2-A2BDBBEB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1C8A-6C99-4E24-B930-50329E0A98B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4F6146-182C-6584-CB1E-140C6F99012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59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6A346D-3303-33C9-EAC9-E3BCE661A17A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Sans Serif Collection" panose="020B0502040504020204" pitchFamily="34" charset="0"/>
          <a:ea typeface="Sans Serif Collection" panose="020B0502040504020204" pitchFamily="34" charset="0"/>
          <a:cs typeface="Sans Serif Collection" panose="020B050204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68C8E2-64F4-51BE-5F95-2E26D964F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34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Google Shape;91;p15">
            <a:extLst>
              <a:ext uri="{FF2B5EF4-FFF2-40B4-BE49-F238E27FC236}">
                <a16:creationId xmlns:a16="http://schemas.microsoft.com/office/drawing/2014/main" id="{00B61E07-9F29-7A31-F58C-796899806C93}"/>
              </a:ext>
            </a:extLst>
          </p:cNvPr>
          <p:cNvSpPr txBox="1">
            <a:spLocks/>
          </p:cNvSpPr>
          <p:nvPr/>
        </p:nvSpPr>
        <p:spPr>
          <a:xfrm>
            <a:off x="1047503" y="546959"/>
            <a:ext cx="10470089" cy="18998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rgbClr val="F5F0F0"/>
              </a:buClr>
              <a:buSzPts val="2400"/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Arrays of Pointers &amp; Dynamic Memory Allocation</a:t>
            </a:r>
          </a:p>
        </p:txBody>
      </p:sp>
      <p:sp>
        <p:nvSpPr>
          <p:cNvPr id="10" name="Google Shape;99;p16">
            <a:extLst>
              <a:ext uri="{FF2B5EF4-FFF2-40B4-BE49-F238E27FC236}">
                <a16:creationId xmlns:a16="http://schemas.microsoft.com/office/drawing/2014/main" id="{D87C2B19-0A0B-8A71-B22C-86DFBC336C11}"/>
              </a:ext>
            </a:extLst>
          </p:cNvPr>
          <p:cNvSpPr txBox="1">
            <a:spLocks/>
          </p:cNvSpPr>
          <p:nvPr/>
        </p:nvSpPr>
        <p:spPr>
          <a:xfrm>
            <a:off x="1047503" y="3136506"/>
            <a:ext cx="38916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1" name="Google Shape;99;p16">
            <a:extLst>
              <a:ext uri="{FF2B5EF4-FFF2-40B4-BE49-F238E27FC236}">
                <a16:creationId xmlns:a16="http://schemas.microsoft.com/office/drawing/2014/main" id="{BF941133-C7FE-DB7F-992D-01D43A71EF6A}"/>
              </a:ext>
            </a:extLst>
          </p:cNvPr>
          <p:cNvSpPr txBox="1">
            <a:spLocks/>
          </p:cNvSpPr>
          <p:nvPr/>
        </p:nvSpPr>
        <p:spPr>
          <a:xfrm>
            <a:off x="1774251" y="1972964"/>
            <a:ext cx="8495413" cy="56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400"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2" name="Google Shape;100;p16">
            <a:extLst>
              <a:ext uri="{FF2B5EF4-FFF2-40B4-BE49-F238E27FC236}">
                <a16:creationId xmlns:a16="http://schemas.microsoft.com/office/drawing/2014/main" id="{CF9E26B7-BD2F-05AD-0547-C1A13A84EF8E}"/>
              </a:ext>
            </a:extLst>
          </p:cNvPr>
          <p:cNvSpPr txBox="1">
            <a:spLocks/>
          </p:cNvSpPr>
          <p:nvPr/>
        </p:nvSpPr>
        <p:spPr>
          <a:xfrm>
            <a:off x="1047503" y="3756487"/>
            <a:ext cx="4678200" cy="107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badi" panose="020B0604020104020204" pitchFamily="34" charset="0"/>
                <a:ea typeface="Abadi" panose="020B0604020104020204" pitchFamily="34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en-US" sz="24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Yashwanth -   160725748172</a:t>
            </a:r>
          </a:p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r>
              <a:rPr lang="en-US" sz="24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Yousuf -   160725748173</a:t>
            </a:r>
            <a:endParaRPr lang="en-US" sz="2400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buClr>
                <a:schemeClr val="dk1"/>
              </a:buClr>
              <a:buSzPts val="1800"/>
            </a:pP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3" name="Google Shape;102;p16">
            <a:extLst>
              <a:ext uri="{FF2B5EF4-FFF2-40B4-BE49-F238E27FC236}">
                <a16:creationId xmlns:a16="http://schemas.microsoft.com/office/drawing/2014/main" id="{69E948DA-3AF7-0BB1-A04C-337E3C9B9D31}"/>
              </a:ext>
            </a:extLst>
          </p:cNvPr>
          <p:cNvSpPr txBox="1"/>
          <p:nvPr/>
        </p:nvSpPr>
        <p:spPr>
          <a:xfrm>
            <a:off x="6681920" y="3144600"/>
            <a:ext cx="38916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 </a:t>
            </a:r>
            <a:endParaRPr sz="1400" b="1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sym typeface="Arial"/>
            </a:endParaRPr>
          </a:p>
        </p:txBody>
      </p:sp>
      <p:sp>
        <p:nvSpPr>
          <p:cNvPr id="16" name="Google Shape;93;p15">
            <a:extLst>
              <a:ext uri="{FF2B5EF4-FFF2-40B4-BE49-F238E27FC236}">
                <a16:creationId xmlns:a16="http://schemas.microsoft.com/office/drawing/2014/main" id="{35309B82-5CEF-28DA-C0B9-01CAEFA334BB}"/>
              </a:ext>
            </a:extLst>
          </p:cNvPr>
          <p:cNvSpPr txBox="1"/>
          <p:nvPr/>
        </p:nvSpPr>
        <p:spPr>
          <a:xfrm>
            <a:off x="2295432" y="6111957"/>
            <a:ext cx="797423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cs typeface="Arial" panose="020B0604020202020204" pitchFamily="34" charset="0"/>
                <a:sym typeface="Times New Roman"/>
              </a:rPr>
              <a:t>Department of Computer Science and Engineering, MCET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rgbClr val="002060"/>
                </a:solidFill>
                <a:latin typeface="+mj-lt"/>
                <a:cs typeface="Arial" panose="020B0604020202020204" pitchFamily="34" charset="0"/>
                <a:sym typeface="Times New Roman"/>
              </a:rPr>
              <a:t>Department of Artificial Intelligence and Machine Learning</a:t>
            </a:r>
            <a:endParaRPr sz="2000" dirty="0">
              <a:solidFill>
                <a:srgbClr val="002060"/>
              </a:solidFill>
              <a:latin typeface="+mj-lt"/>
              <a:cs typeface="Arial" panose="020B0604020202020204" pitchFamily="34" charset="0"/>
              <a:sym typeface="Arial"/>
            </a:endParaRPr>
          </a:p>
        </p:txBody>
      </p:sp>
      <p:sp>
        <p:nvSpPr>
          <p:cNvPr id="19" name="Google Shape;103;p16">
            <a:extLst>
              <a:ext uri="{FF2B5EF4-FFF2-40B4-BE49-F238E27FC236}">
                <a16:creationId xmlns:a16="http://schemas.microsoft.com/office/drawing/2014/main" id="{9F597DF5-5FF4-EA90-DD1C-CF2BBA91D18E}"/>
              </a:ext>
            </a:extLst>
          </p:cNvPr>
          <p:cNvSpPr txBox="1"/>
          <p:nvPr/>
        </p:nvSpPr>
        <p:spPr>
          <a:xfrm>
            <a:off x="6681920" y="3781186"/>
            <a:ext cx="629366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IN" sz="2400" b="1" dirty="0" err="1"/>
              <a:t>Ms.Saba</a:t>
            </a:r>
            <a:r>
              <a:rPr lang="en-IN" sz="2400" b="1" dirty="0"/>
              <a:t> Noor Ayesha Khanum</a:t>
            </a:r>
            <a:endParaRPr lang="en-IN"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Professor- CSE Dept)</a:t>
            </a:r>
            <a:endParaRPr sz="1800" b="0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242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117" y="721463"/>
            <a:ext cx="5783863" cy="531868"/>
          </a:xfrm>
          <a:noFill/>
        </p:spPr>
        <p:txBody>
          <a:bodyPr anchor="ctr">
            <a:noAutofit/>
          </a:bodyPr>
          <a:lstStyle/>
          <a:p>
            <a:r>
              <a:rPr lang="en-IN" dirty="0"/>
              <a:t>What is a Pointer?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Google Shape;92;p15">
            <a:extLst>
              <a:ext uri="{FF2B5EF4-FFF2-40B4-BE49-F238E27FC236}">
                <a16:creationId xmlns:a16="http://schemas.microsoft.com/office/drawing/2014/main" id="{2F1F2285-FB2E-5A16-BF00-23740338C009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93;p15">
            <a:extLst>
              <a:ext uri="{FF2B5EF4-FFF2-40B4-BE49-F238E27FC236}">
                <a16:creationId xmlns:a16="http://schemas.microsoft.com/office/drawing/2014/main" id="{77E95000-D25E-0482-9F4A-AD553ABB3B91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0AD6D1-FB88-627B-3AF1-8DF4BA446A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7620" y="1253331"/>
            <a:ext cx="10844988" cy="464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cap="none" dirty="0"/>
              <a:t>A pointer stores the memory address of another variable.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cap="none" dirty="0"/>
              <a:t>It enables indirect access to data stored in memory.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cap="none" dirty="0"/>
              <a:t>Declared using </a:t>
            </a:r>
            <a:r>
              <a:rPr lang="en-US" sz="3200" cap="none" dirty="0"/>
              <a:t>*</a:t>
            </a:r>
            <a:r>
              <a:rPr lang="en-US" sz="2800" cap="none" dirty="0"/>
              <a:t> symbol (</a:t>
            </a:r>
            <a:r>
              <a:rPr lang="en-US" sz="3200" cap="none" dirty="0"/>
              <a:t>Int *p</a:t>
            </a:r>
            <a:r>
              <a:rPr lang="en-US" sz="2800" cap="none" dirty="0"/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cap="none" dirty="0"/>
              <a:t>Supports dynamic data structures and dynamic memory.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cap="none" dirty="0"/>
              <a:t>Essential for efficient memory handling in 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cap="none" dirty="0"/>
              <a:t>Helps in array, string, and structure manipulations.</a:t>
            </a:r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3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Google Shape;92;p15">
            <a:extLst>
              <a:ext uri="{FF2B5EF4-FFF2-40B4-BE49-F238E27FC236}">
                <a16:creationId xmlns:a16="http://schemas.microsoft.com/office/drawing/2014/main" id="{40A8335C-58FB-3A78-504B-C71A5F20A50A}"/>
              </a:ext>
            </a:extLst>
          </p:cNvPr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CE55F93-5D3C-44FD-B3DC-5D911E68BA83}"/>
              </a:ext>
            </a:extLst>
          </p:cNvPr>
          <p:cNvSpPr txBox="1">
            <a:spLocks/>
          </p:cNvSpPr>
          <p:nvPr/>
        </p:nvSpPr>
        <p:spPr>
          <a:xfrm>
            <a:off x="2009553" y="740636"/>
            <a:ext cx="9017063" cy="5318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 i="0">
                <a:solidFill>
                  <a:schemeClr val="accent2">
                    <a:lumMod val="25000"/>
                  </a:schemeClr>
                </a:solidFill>
                <a:latin typeface="+mj-lt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n-IN" dirty="0"/>
              <a:t>Understanding Arrays of Pointers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4B5EDD-0F01-7F6A-3C59-C383323B0F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0317" y="1558273"/>
            <a:ext cx="9480544" cy="3908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An array in which every element is a pointer.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Each pointer can point to data of the same type.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Useful when array elements need different memory sizes.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Commonly used for storing strings of variable lengths.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Provides flexibility compared to normal arrays.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Helpful in implementing jagged arrays.</a:t>
            </a:r>
          </a:p>
        </p:txBody>
      </p:sp>
      <p:sp>
        <p:nvSpPr>
          <p:cNvPr id="7" name="Google Shape;93;p15">
            <a:extLst>
              <a:ext uri="{FF2B5EF4-FFF2-40B4-BE49-F238E27FC236}">
                <a16:creationId xmlns:a16="http://schemas.microsoft.com/office/drawing/2014/main" id="{D6A9342B-DDC1-00EF-04EE-2A8B6DBAE77C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20826-AB5F-030D-8264-05DEDFBE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6CE70B-7D67-2C51-EA6C-288D374F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4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Google Shape;92;p15">
            <a:extLst>
              <a:ext uri="{FF2B5EF4-FFF2-40B4-BE49-F238E27FC236}">
                <a16:creationId xmlns:a16="http://schemas.microsoft.com/office/drawing/2014/main" id="{B725C71C-6313-9ABF-F8CF-A0652D63CB3B}"/>
              </a:ext>
            </a:extLst>
          </p:cNvPr>
          <p:cNvPicPr preferRelativeResize="0"/>
          <p:nvPr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191961A-DFC8-5058-C40A-E2EDF4373D3F}"/>
              </a:ext>
            </a:extLst>
          </p:cNvPr>
          <p:cNvSpPr txBox="1">
            <a:spLocks/>
          </p:cNvSpPr>
          <p:nvPr/>
        </p:nvSpPr>
        <p:spPr>
          <a:xfrm>
            <a:off x="2282372" y="649226"/>
            <a:ext cx="7627256" cy="5318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 i="0">
                <a:solidFill>
                  <a:schemeClr val="accent2">
                    <a:lumMod val="25000"/>
                  </a:schemeClr>
                </a:solidFill>
                <a:latin typeface="+mj-lt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r>
              <a:rPr lang="en-US" dirty="0"/>
              <a:t>Why Use Arrays of Pointers?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65544F9-9D37-98FA-31FF-FACA9965C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0117" y="1308937"/>
            <a:ext cx="10714572" cy="522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store data of varying lengths (e.g., different-sized strings).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achieve higher flexibility than fixed-size arrays.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save memory by allocating only required space.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manage dynamic 2D arrays efficiently.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support complex data structures like linked lists or graphs.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allow easy swapping of memory blocks by swapping pointers</a:t>
            </a:r>
            <a:r>
              <a:rPr lang="en-US" sz="2400" dirty="0"/>
              <a:t>.</a:t>
            </a:r>
          </a:p>
          <a:p>
            <a:pPr marL="342900" marR="0" indent="-342900" fontAlgn="base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Google Shape;93;p15">
            <a:extLst>
              <a:ext uri="{FF2B5EF4-FFF2-40B4-BE49-F238E27FC236}">
                <a16:creationId xmlns:a16="http://schemas.microsoft.com/office/drawing/2014/main" id="{5CAA6356-39CC-9A72-B931-35BE05FF9782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711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905" y="446981"/>
            <a:ext cx="8354995" cy="1008747"/>
          </a:xfrm>
          <a:noFill/>
        </p:spPr>
        <p:txBody>
          <a:bodyPr>
            <a:noAutofit/>
          </a:bodyPr>
          <a:lstStyle/>
          <a:p>
            <a:r>
              <a:rPr lang="en-US" dirty="0"/>
              <a:t>Arrays of Pointers vs 2D Arrays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0867" y="1419534"/>
            <a:ext cx="10473070" cy="4205176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2D arrays allocate continuous memory; pointer arrays do not.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Pointer arrays allow variable-length rows.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2D arrays require fixed row/column size at compile 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Pointer arrays allow dynamic memory allocation per row.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Accessing elements differs (</a:t>
            </a:r>
            <a:r>
              <a:rPr lang="en-US" sz="2800" dirty="0" err="1"/>
              <a:t>arr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][j] works for both).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Pointer arrays are more memory-efficient for irregular data</a:t>
            </a:r>
            <a:r>
              <a:rPr lang="en-US" sz="2400" dirty="0"/>
              <a:t>.</a:t>
            </a: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2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5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7" name="Google Shape;92;p15">
            <a:extLst>
              <a:ext uri="{FF2B5EF4-FFF2-40B4-BE49-F238E27FC236}">
                <a16:creationId xmlns:a16="http://schemas.microsoft.com/office/drawing/2014/main" id="{73FD3537-D080-1A93-397E-0AC1F1E32397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3;p15">
            <a:extLst>
              <a:ext uri="{FF2B5EF4-FFF2-40B4-BE49-F238E27FC236}">
                <a16:creationId xmlns:a16="http://schemas.microsoft.com/office/drawing/2014/main" id="{725A529B-292E-992E-77C3-013CAE855A9A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948" y="-19730"/>
            <a:ext cx="10880202" cy="1275492"/>
          </a:xfrm>
          <a:noFill/>
        </p:spPr>
        <p:txBody>
          <a:bodyPr>
            <a:noAutofit/>
          </a:bodyPr>
          <a:lstStyle/>
          <a:p>
            <a:r>
              <a:rPr lang="en-US" dirty="0"/>
              <a:t>Example – Array of Strings Using Pointers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6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Google Shape;92;p15">
            <a:extLst>
              <a:ext uri="{FF2B5EF4-FFF2-40B4-BE49-F238E27FC236}">
                <a16:creationId xmlns:a16="http://schemas.microsoft.com/office/drawing/2014/main" id="{4B1DAB5D-E36F-CC81-663A-5E64C49C5857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06B1834-9770-1D5B-FA8F-F945F6AD4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6599" y="1283339"/>
            <a:ext cx="10880203" cy="522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char *names[] = {"John", "Alice", "Bob"};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Each element stores the address of a string literal.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Strings can be of different lengths.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Memory for strings is stored separately, not contiguously.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Easy to modify addresses without shifting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Widely used in text-processing programs.</a:t>
            </a:r>
          </a:p>
          <a:p>
            <a:pPr marL="342900" lvl="0" indent="-342900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Google Shape;93;p15">
            <a:extLst>
              <a:ext uri="{FF2B5EF4-FFF2-40B4-BE49-F238E27FC236}">
                <a16:creationId xmlns:a16="http://schemas.microsoft.com/office/drawing/2014/main" id="{5E10EE4A-25D3-F6FD-6502-373318D4E936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8CE31-5438-0B39-AA7A-D0D3E1BF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E1D882-4164-19C7-5798-22E3C5D5222D}"/>
              </a:ext>
            </a:extLst>
          </p:cNvPr>
          <p:cNvSpPr txBox="1">
            <a:spLocks/>
          </p:cNvSpPr>
          <p:nvPr/>
        </p:nvSpPr>
        <p:spPr>
          <a:xfrm>
            <a:off x="1664642" y="374936"/>
            <a:ext cx="10023764" cy="100874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accent2">
                    <a:lumMod val="25000"/>
                  </a:schemeClr>
                </a:solidFill>
                <a:latin typeface="+mj-lt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pPr algn="ctr"/>
            <a:r>
              <a:rPr lang="en-US" dirty="0"/>
              <a:t>What is Dynamic Memory Allocation?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pic>
        <p:nvPicPr>
          <p:cNvPr id="6" name="Google Shape;92;p15">
            <a:extLst>
              <a:ext uri="{FF2B5EF4-FFF2-40B4-BE49-F238E27FC236}">
                <a16:creationId xmlns:a16="http://schemas.microsoft.com/office/drawing/2014/main" id="{DF982DEC-1411-A570-6D8C-3371400610B0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31229D7C-76F3-BF17-2541-BA47386984C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623959" y="1252759"/>
            <a:ext cx="8903399" cy="522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Memory allocated during runtime, not compile 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Helps handle data whose size is unknown in advance.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Achieved using functions in &lt;</a:t>
            </a:r>
            <a:r>
              <a:rPr lang="en-US" sz="2800" dirty="0" err="1"/>
              <a:t>stdlib.h</a:t>
            </a:r>
            <a:r>
              <a:rPr lang="en-US" sz="2800" dirty="0"/>
              <a:t>&gt;.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Works with pointers to access allocated memory.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Gives better flexibility in managing memory.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Essential for large, unpredictable data structures.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Google Shape;93;p15">
            <a:extLst>
              <a:ext uri="{FF2B5EF4-FFF2-40B4-BE49-F238E27FC236}">
                <a16:creationId xmlns:a16="http://schemas.microsoft.com/office/drawing/2014/main" id="{9EF39815-6081-D423-150A-BF42494A5CC1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7955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950" y="492197"/>
            <a:ext cx="10487082" cy="845926"/>
          </a:xfrm>
          <a:noFill/>
        </p:spPr>
        <p:txBody>
          <a:bodyPr anchor="b">
            <a:noAutofit/>
          </a:bodyPr>
          <a:lstStyle/>
          <a:p>
            <a:r>
              <a:rPr lang="en-IN" dirty="0"/>
              <a:t>malloc() Function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Google Shape;92;p15">
            <a:extLst>
              <a:ext uri="{FF2B5EF4-FFF2-40B4-BE49-F238E27FC236}">
                <a16:creationId xmlns:a16="http://schemas.microsoft.com/office/drawing/2014/main" id="{86E0879E-96EC-C070-6CEB-78F8BD8A5E01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7A8B240-97C2-E051-5D27-934064D230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5090" y="1224194"/>
            <a:ext cx="9965803" cy="522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Allocates a single continuous block of memory.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Memory is uninitialized (contains garbage values).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Syntax: </a:t>
            </a:r>
            <a:r>
              <a:rPr lang="en-US" sz="2800" dirty="0" err="1"/>
              <a:t>ptr</a:t>
            </a:r>
            <a:r>
              <a:rPr lang="en-US" sz="2800" dirty="0"/>
              <a:t> = malloc(size);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Returns NULL if memory allocation fails.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Must be explicitly freed using free().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Commonly used for arrays and structures.</a:t>
            </a: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Google Shape;93;p15">
            <a:extLst>
              <a:ext uri="{FF2B5EF4-FFF2-40B4-BE49-F238E27FC236}">
                <a16:creationId xmlns:a16="http://schemas.microsoft.com/office/drawing/2014/main" id="{72217F6D-9166-D886-EE8D-2719F2E2DF68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43" y="-223012"/>
            <a:ext cx="4972242" cy="1540764"/>
          </a:xfrm>
          <a:noFill/>
        </p:spPr>
        <p:txBody>
          <a:bodyPr>
            <a:noAutofit/>
          </a:bodyPr>
          <a:lstStyle/>
          <a:p>
            <a:r>
              <a:rPr lang="en-IN" dirty="0" err="1"/>
              <a:t>calloc</a:t>
            </a:r>
            <a:r>
              <a:rPr lang="en-IN" dirty="0"/>
              <a:t>() Function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AF320-61B9-87FA-4DF5-7C3B0DC1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14" name="Google Shape;92;p15">
            <a:extLst>
              <a:ext uri="{FF2B5EF4-FFF2-40B4-BE49-F238E27FC236}">
                <a16:creationId xmlns:a16="http://schemas.microsoft.com/office/drawing/2014/main" id="{8D5DA780-6F11-CE56-0EB8-27860A3098C9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418EE7-E82F-6A4D-7176-81CBE26D4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086" y="1252759"/>
            <a:ext cx="9965803" cy="522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Allocates memory for multiple elements.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Initializes all memory blocks to zero.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Syntax: </a:t>
            </a:r>
            <a:r>
              <a:rPr lang="en-IN" sz="2800" dirty="0" err="1"/>
              <a:t>ptr</a:t>
            </a:r>
            <a:r>
              <a:rPr lang="en-IN" sz="2800" dirty="0"/>
              <a:t> = </a:t>
            </a:r>
            <a:r>
              <a:rPr lang="en-IN" sz="2800" dirty="0" err="1"/>
              <a:t>calloc</a:t>
            </a:r>
            <a:r>
              <a:rPr lang="en-IN" sz="2800" dirty="0"/>
              <a:t>(n, size);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Useful for initializing arrays automatically.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Prevents undefined </a:t>
            </a:r>
            <a:r>
              <a:rPr lang="en-IN" sz="2800" dirty="0" err="1"/>
              <a:t>behavior</a:t>
            </a:r>
            <a:r>
              <a:rPr lang="en-IN" sz="2800" dirty="0"/>
              <a:t> from garbage values.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Requires free() after usage.</a:t>
            </a: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1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Google Shape;93;p15">
            <a:extLst>
              <a:ext uri="{FF2B5EF4-FFF2-40B4-BE49-F238E27FC236}">
                <a16:creationId xmlns:a16="http://schemas.microsoft.com/office/drawing/2014/main" id="{F1D1A39E-B286-2A1F-973D-4DC8A41D0EE7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852" y="410787"/>
            <a:ext cx="6429994" cy="928314"/>
          </a:xfrm>
          <a:noFill/>
        </p:spPr>
        <p:txBody>
          <a:bodyPr>
            <a:noAutofit/>
          </a:bodyPr>
          <a:lstStyle/>
          <a:p>
            <a:r>
              <a:rPr lang="en-IN" dirty="0" err="1"/>
              <a:t>realloc</a:t>
            </a:r>
            <a:r>
              <a:rPr lang="en-IN" dirty="0"/>
              <a:t>() Function</a:t>
            </a:r>
            <a:r>
              <a:rPr lang="en-IN" dirty="0">
                <a:latin typeface="Sans Serif Collection" panose="020B0502040504020204" pitchFamily="34" charset="0"/>
              </a:rPr>
              <a:t> 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96564" y="6563001"/>
            <a:ext cx="2522548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10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7" name="Google Shape;92;p15">
            <a:extLst>
              <a:ext uri="{FF2B5EF4-FFF2-40B4-BE49-F238E27FC236}">
                <a16:creationId xmlns:a16="http://schemas.microsoft.com/office/drawing/2014/main" id="{BFDC5236-3783-3E12-84A4-5E75FC8F01AD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01F93C1-DD24-7DE6-6897-3074E31B0C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8161" y="1624870"/>
            <a:ext cx="9089027" cy="3908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Used to expand or shrink previously allocated memory.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Syntax: </a:t>
            </a:r>
            <a:r>
              <a:rPr lang="en-US" altLang="en-US" sz="2800" dirty="0" err="1"/>
              <a:t>ptr</a:t>
            </a:r>
            <a:r>
              <a:rPr lang="en-US" altLang="en-US" sz="2800" dirty="0"/>
              <a:t> = </a:t>
            </a:r>
            <a:r>
              <a:rPr lang="en-US" altLang="en-US" sz="2800" dirty="0" err="1"/>
              <a:t>realloc</a:t>
            </a:r>
            <a:r>
              <a:rPr lang="en-US" altLang="en-US" sz="2800" dirty="0"/>
              <a:t>(</a:t>
            </a:r>
            <a:r>
              <a:rPr lang="en-US" altLang="en-US" sz="2800" dirty="0" err="1"/>
              <a:t>ptr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new_size</a:t>
            </a:r>
            <a:r>
              <a:rPr lang="en-US" altLang="en-US" sz="2800" dirty="0"/>
              <a:t>);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Preserves previous data up to the new size.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Helps manage growing datasets dynamically.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Can move memory block to a new location.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Returns NULL if reallocation fails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Google Shape;93;p15">
            <a:extLst>
              <a:ext uri="{FF2B5EF4-FFF2-40B4-BE49-F238E27FC236}">
                <a16:creationId xmlns:a16="http://schemas.microsoft.com/office/drawing/2014/main" id="{B10825C4-A38C-F315-C08E-CB23A0C845F0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D41C4-8807-57D4-EC5C-D4B4F61F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C4D5A-DF32-41D3-387D-C77DC1CA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136" y="427249"/>
            <a:ext cx="4578533" cy="928314"/>
          </a:xfrm>
          <a:noFill/>
        </p:spPr>
        <p:txBody>
          <a:bodyPr>
            <a:noAutofit/>
          </a:bodyPr>
          <a:lstStyle/>
          <a:p>
            <a:r>
              <a:rPr lang="en-IN" dirty="0"/>
              <a:t>free() Function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033D9DA-EADC-AAA3-9F1A-871AC30C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96564" y="6563001"/>
            <a:ext cx="2522548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11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7" name="Google Shape;92;p15">
            <a:extLst>
              <a:ext uri="{FF2B5EF4-FFF2-40B4-BE49-F238E27FC236}">
                <a16:creationId xmlns:a16="http://schemas.microsoft.com/office/drawing/2014/main" id="{64451023-3BC1-85FD-9C10-EF35E87AE3CC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E662293-FE47-C98E-A622-30387C4A8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5467" y="1350159"/>
            <a:ext cx="10717486" cy="454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Frees dynamically allocated memory.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Prevents memory leakage in long-running programs.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Syntax: free(</a:t>
            </a:r>
            <a:r>
              <a:rPr lang="en-US" sz="2800" dirty="0" err="1"/>
              <a:t>ptr</a:t>
            </a:r>
            <a:r>
              <a:rPr lang="en-US" sz="2800" dirty="0"/>
              <a:t>);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After freeing, pointer becomes invalid (dangling).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Best practice: set pointer to NULL after freeing.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Must only be used on memory allocated by malloc/</a:t>
            </a:r>
            <a:r>
              <a:rPr lang="en-US" sz="2800" dirty="0" err="1"/>
              <a:t>calloc</a:t>
            </a:r>
            <a:r>
              <a:rPr lang="en-US" sz="2800" dirty="0"/>
              <a:t>/</a:t>
            </a:r>
            <a:r>
              <a:rPr lang="en-US" sz="2800" dirty="0" err="1"/>
              <a:t>realloc</a:t>
            </a:r>
            <a:r>
              <a:rPr lang="en-US" sz="2800" dirty="0"/>
              <a:t>.</a:t>
            </a:r>
          </a:p>
        </p:txBody>
      </p:sp>
      <p:sp>
        <p:nvSpPr>
          <p:cNvPr id="8" name="Google Shape;93;p15">
            <a:extLst>
              <a:ext uri="{FF2B5EF4-FFF2-40B4-BE49-F238E27FC236}">
                <a16:creationId xmlns:a16="http://schemas.microsoft.com/office/drawing/2014/main" id="{10C5F511-A411-5FC1-434B-ADBFB1187CAE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7669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E39C9-3956-7C2F-601C-F449F5E9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336C-69DB-BE0E-7687-F04F7ACA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136" y="427249"/>
            <a:ext cx="4578533" cy="928314"/>
          </a:xfrm>
          <a:noFill/>
        </p:spPr>
        <p:txBody>
          <a:bodyPr>
            <a:noAutofit/>
          </a:bodyPr>
          <a:lstStyle/>
          <a:p>
            <a:r>
              <a:rPr lang="en-US" dirty="0"/>
              <a:t>Conclusion</a:t>
            </a:r>
            <a:endParaRPr lang="en-US" dirty="0">
              <a:latin typeface="Sans Serif Collection" panose="020B0502040504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5FD61D-D621-3F4A-4400-99118634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96564" y="6563001"/>
            <a:ext cx="2522548" cy="228600"/>
          </a:xfrm>
        </p:spPr>
        <p:txBody>
          <a:bodyPr/>
          <a:lstStyle/>
          <a:p>
            <a:fld id="{CBD12358-51D2-46B3-9BDE-DF29528B9454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12</a:t>
            </a:fld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7" name="Google Shape;92;p15">
            <a:extLst>
              <a:ext uri="{FF2B5EF4-FFF2-40B4-BE49-F238E27FC236}">
                <a16:creationId xmlns:a16="http://schemas.microsoft.com/office/drawing/2014/main" id="{3F5939A7-BB12-D353-8D9F-329856E64AE3}"/>
              </a:ext>
            </a:extLst>
          </p:cNvPr>
          <p:cNvPicPr preferRelativeResize="0"/>
          <p:nvPr/>
        </p:nvPicPr>
        <p:blipFill rotWithShape="1">
          <a:blip r:embed="rId2">
            <a:alphaModFix amt="70000"/>
          </a:blip>
          <a:srcRect/>
          <a:stretch/>
        </p:blipFill>
        <p:spPr>
          <a:xfrm>
            <a:off x="441107" y="410787"/>
            <a:ext cx="1060188" cy="100874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BF451C9-D977-F37F-A30C-712670A0F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9274" y="1419534"/>
            <a:ext cx="9329605" cy="3908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Always initialize pointers to NULL.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Check if malloc() or </a:t>
            </a:r>
            <a:r>
              <a:rPr lang="en-US" altLang="en-US" sz="2800" dirty="0" err="1"/>
              <a:t>calloc</a:t>
            </a:r>
            <a:r>
              <a:rPr lang="en-US" altLang="en-US" sz="2800" dirty="0"/>
              <a:t>() returned NULL.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Free memory once and only once.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Avoid returning pointers to local variables.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Use </a:t>
            </a:r>
            <a:r>
              <a:rPr lang="en-US" altLang="en-US" sz="2800" dirty="0" err="1"/>
              <a:t>realloc</a:t>
            </a:r>
            <a:r>
              <a:rPr lang="en-US" altLang="en-US" sz="2800" dirty="0"/>
              <a:t>() with a temporary pointer to avoid data loss.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Document memory responsibilities clearly in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Google Shape;93;p15">
            <a:extLst>
              <a:ext uri="{FF2B5EF4-FFF2-40B4-BE49-F238E27FC236}">
                <a16:creationId xmlns:a16="http://schemas.microsoft.com/office/drawing/2014/main" id="{BACD433C-7215-DFCB-E567-EFB0CB5D2843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1744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060" y="2924626"/>
            <a:ext cx="5830470" cy="1008747"/>
          </a:xfrm>
          <a:noFill/>
        </p:spPr>
        <p:txBody>
          <a:bodyPr anchor="b">
            <a:noAutofit/>
          </a:bodyPr>
          <a:lstStyle/>
          <a:p>
            <a:r>
              <a:rPr lang="en-US" sz="80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DD2CC-1F23-C90A-35AD-7BD493AA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34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Google Shape;93;p15">
            <a:extLst>
              <a:ext uri="{FF2B5EF4-FFF2-40B4-BE49-F238E27FC236}">
                <a16:creationId xmlns:a16="http://schemas.microsoft.com/office/drawing/2014/main" id="{C35F9A9B-D914-E0A2-B218-59D27E7F91C3}"/>
              </a:ext>
            </a:extLst>
          </p:cNvPr>
          <p:cNvSpPr txBox="1"/>
          <p:nvPr/>
        </p:nvSpPr>
        <p:spPr>
          <a:xfrm>
            <a:off x="2572764" y="6277232"/>
            <a:ext cx="730456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sym typeface="Times New Roman"/>
              </a:rPr>
              <a:t>Department of Artificial Intelligence &amp; Machine Learning</a:t>
            </a:r>
            <a:endParaRPr sz="2000" dirty="0">
              <a:solidFill>
                <a:schemeClr val="bg2">
                  <a:lumMod val="2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F7D870-58E6-48A2-A932-190ED7A8A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22768</TotalTime>
  <Words>770</Words>
  <Application>Microsoft Office PowerPoint</Application>
  <PresentationFormat>Widescreen</PresentationFormat>
  <Paragraphs>112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Sans Serif Collection</vt:lpstr>
      <vt:lpstr>Times New Roman</vt:lpstr>
      <vt:lpstr>Custom</vt:lpstr>
      <vt:lpstr>PowerPoint Presentation</vt:lpstr>
      <vt:lpstr>What is a Pointer?</vt:lpstr>
      <vt:lpstr>PowerPoint Presentation</vt:lpstr>
      <vt:lpstr>PowerPoint Presentation</vt:lpstr>
      <vt:lpstr>Arrays of Pointers vs 2D Arrays</vt:lpstr>
      <vt:lpstr>Example – Array of Strings Using Pointers</vt:lpstr>
      <vt:lpstr>PowerPoint Presentation</vt:lpstr>
      <vt:lpstr>malloc() Function</vt:lpstr>
      <vt:lpstr>calloc() Function</vt:lpstr>
      <vt:lpstr>realloc() Function </vt:lpstr>
      <vt:lpstr>free() Function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Madavaram Yethishwar</dc:creator>
  <cp:lastModifiedBy>Madavaram Yethishwar</cp:lastModifiedBy>
  <cp:revision>12</cp:revision>
  <dcterms:created xsi:type="dcterms:W3CDTF">2023-08-29T05:38:01Z</dcterms:created>
  <dcterms:modified xsi:type="dcterms:W3CDTF">2025-12-01T13:03:10Z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